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─── LÆS ───</a:t>
            </a:r>
          </a:p>
          <a:p>
            <a:r>
              <a:t>Velkomst · 0:00–0:05. Første øjeblik — bare rammesæt. Vent ikke for længe; kom videre.</a:t>
            </a:r>
          </a:p>
          <a:p/>
          <a:p>
            <a:r>
              <a:t>─── SIG ───</a:t>
            </a:r>
          </a:p>
          <a:p>
            <a:r>
              <a:t>"Velkommen. Jeg er Matias, og det her er Michael. Vi er facilitatorer for de næste 5 uger."</a:t>
            </a:r>
          </a:p>
          <a:p/>
          <a:p>
            <a:r>
              <a:t>"Det her er ikke et kursus hvor I lytter til os. Det er en træningslejr hvor I lærer ved at gøre — og fra session 2 også ved at undervise jeres kollegaer."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─── LÆS ───</a:t>
            </a:r>
          </a:p>
          <a:p>
            <a:r>
              <a:t>Hurtigt overblik · 0:05–0:07. Peg på de fremhævede (blå) felter — det er de tre hoveddele. Ingen pause på en time, men det går stærkt.</a:t>
            </a:r>
          </a:p>
          <a:p/>
          <a:p>
            <a:r>
              <a:t>─── SIG ───</a:t>
            </a:r>
          </a:p>
          <a:p>
            <a:r>
              <a:t>"Lige om lidt fortæller jeg lidt om hvordan de næste 5 uger ser ud."</a:t>
            </a:r>
          </a:p>
          <a:p/>
          <a:p>
            <a:r>
              <a:t>"Så går vi i terminalen og laver en live demo."</a:t>
            </a:r>
          </a:p>
          <a:p/>
          <a:p>
            <a:r>
              <a:t>"Og så er det jer der skal kode — solo på jeres egen maskine."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─── LÆS ───</a:t>
            </a:r>
          </a:p>
          <a:p>
            <a:r>
              <a:t>Vigtigste pointe i dag · 0:07–0:10. Hvis de bare lytter, lærer de ingenting. Hvis de underviser hinanden, sidder det fast.</a:t>
            </a:r>
          </a:p>
          <a:p/>
          <a:p>
            <a:r>
              <a:t>─── SIG ───</a:t>
            </a:r>
          </a:p>
          <a:p>
            <a:r>
              <a:t>"Det her er den vigtigste pointe i dag: Michael og jeg er facilitatorer, ikke eksperter."</a:t>
            </a:r>
          </a:p>
          <a:p/>
          <a:p>
            <a:r>
              <a:t>"Jeg ved ikke nødvendigvis mere end jer om Claude Code om 5 uger. Det her er et hold der lærer sammen."</a:t>
            </a:r>
          </a:p>
          <a:p/>
          <a:p>
            <a:r>
              <a:t>"Fra session 2 er det én af jer der præsenterer dagens emne. Vi hjælper med slides ugen før, så ingen står alene med det."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─── LÆS ───</a:t>
            </a:r>
          </a:p>
          <a:p>
            <a:r>
              <a:t>Akavet øjeblik · 0:10–0:13. Stil spørgsmålet og hold mund. Lad stilheden virke. Hvis ingen melder sig efter 10 sek: vælg én du ved godt har lyst — eller én der ser frisk ud.</a:t>
            </a:r>
          </a:p>
          <a:p/>
          <a:p>
            <a:r>
              <a:t>─── SIG ───</a:t>
            </a:r>
          </a:p>
          <a:p>
            <a:r>
              <a:t>"Hvem vil tage session 2 om Plan mode? Det er torsdag, jeg hjælper jer med slides senest mandag eftermiddag."</a:t>
            </a:r>
          </a:p>
          <a:p/>
          <a:p>
            <a:r>
              <a:t>[Vent. Tæl til 10 i hovedet.]</a:t>
            </a:r>
          </a:p>
          <a:p/>
          <a:p>
            <a:r>
              <a:t>Hvis ingen melder sig:</a:t>
            </a:r>
          </a:p>
          <a:p>
            <a:r>
              <a:t>"[Navn] — vil du tage den?"</a:t>
            </a:r>
          </a:p>
          <a:p/>
          <a:p>
            <a:r>
              <a:t>─── GØR ───</a:t>
            </a:r>
          </a:p>
          <a:p>
            <a:r>
              <a:t>Når én melder sig: TAK højt. Det sætter normen for resten af forløbet.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─── LÆS ───</a:t>
            </a:r>
          </a:p>
          <a:p>
            <a:r>
              <a:t>Saml i ÉN sætning · 0:13–0:15. Sig den langsomt. Det er hele dagen i én linje.</a:t>
            </a:r>
          </a:p>
          <a:p/>
          <a:p>
            <a:r>
              <a:t>─── SIG ───</a:t>
            </a:r>
          </a:p>
          <a:p>
            <a:r>
              <a:t>"En dårlig prompt giver generisk kode."</a:t>
            </a:r>
          </a:p>
          <a:p/>
          <a:p>
            <a:r>
              <a:t>"En god prompt giver produktionsklar kode."</a:t>
            </a:r>
          </a:p>
          <a:p/>
          <a:p>
            <a:r>
              <a:t>"Forskellen er kontekst. Det er det vi træner i dag."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─── LÆS ───</a:t>
            </a:r>
          </a:p>
          <a:p>
            <a:r>
              <a:t>Mønsteret · 0:15–0:18. Det her skal de kunne udenad efter session 1. Læs dem op én af gangen og giv et lille eksempel for hver.</a:t>
            </a:r>
          </a:p>
          <a:p/>
          <a:p>
            <a:r>
              <a:t>─── SIG ───</a:t>
            </a:r>
          </a:p>
          <a:p>
            <a:r>
              <a:t>"En god prompt har altid 4 dele."</a:t>
            </a:r>
          </a:p>
          <a:p/>
          <a:p>
            <a:r>
              <a:t>"1. Kontekst — fx: Læs lib/propertyService.ts og components/PropertyCard.tsx."</a:t>
            </a:r>
          </a:p>
          <a:p/>
          <a:p>
            <a:r>
              <a:t>"2. Opgave — fx: Lav en formatPrice-helper og brug den i begge filer."</a:t>
            </a:r>
          </a:p>
          <a:p/>
          <a:p>
            <a:r>
              <a:t>"3. Begrænsninger — fx: Rør intet andet. Ingen commit."</a:t>
            </a:r>
          </a:p>
          <a:p/>
          <a:p>
            <a:r>
              <a:t>"4. Forventet output — fx: Priser vises som 8.500.000 kr. — alle 3 steder."</a:t>
            </a:r>
          </a:p>
          <a:p/>
          <a:p>
            <a:r>
              <a:t>"Vi vender tilbage til de 4 byggeklodser hver eneste session de næste 5 uger."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─── LÆS ───</a:t>
            </a:r>
          </a:p>
          <a:p>
            <a:r>
              <a:t>Tryghed fra dag 1 · 0:18–0:20. Vi går i dybden i session 3, men de skal vide om det FRA i dag. Pointe: hvis de aldrig kan rulle tilbage, tør de aldrig prøve noget nyt.</a:t>
            </a:r>
          </a:p>
          <a:p/>
          <a:p>
            <a:r>
              <a:t>─── SIG ───</a:t>
            </a:r>
          </a:p>
          <a:p>
            <a:r>
              <a:t>"Når Claude laver noget I fortryder — eller koden går i sort — så tryk Esc to gange."</a:t>
            </a:r>
          </a:p>
          <a:p/>
          <a:p>
            <a:r>
              <a:t>"Der kommer en menu hvor I kan rulle tilbage til ethvert tidligere punkt i samtalen. Filerne, conversation, eller begge dele."</a:t>
            </a:r>
          </a:p>
          <a:p/>
          <a:p>
            <a:r>
              <a:t>"Det er det her der gør det trygt at lade Claude prøve noget vildt."</a:t>
            </a:r>
          </a:p>
          <a:p/>
          <a:p>
            <a:r>
              <a:t>"I må gerne bruge det fra første prompt I skriver i dag."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─── LÆS ───</a:t>
            </a:r>
          </a:p>
          <a:p>
            <a:r>
              <a:t>Skift til terminal · 0:20 — start.</a:t>
            </a:r>
          </a:p>
          <a:p/>
          <a:p>
            <a:r>
              <a:t>TJEKLISTE FØR DU KØRER:</a:t>
            </a:r>
          </a:p>
          <a:p>
            <a:r>
              <a:t>  □ git status er clean</a:t>
            </a:r>
          </a:p>
          <a:p>
            <a:r>
              <a:t>  □ /demo er åben i browseren med USD-priser synlige</a:t>
            </a:r>
          </a:p>
          <a:p>
            <a:r>
              <a:t>  □ claude --dangerously-skip-permissions kører i demo/-mappen</a:t>
            </a:r>
          </a:p>
          <a:p>
            <a:r>
              <a:t>  □ Du kan se BÅDE terminal og browser samtidig på projektoren</a:t>
            </a:r>
          </a:p>
          <a:p/>
          <a:p>
            <a:r>
              <a:t>─── SIG ───</a:t>
            </a:r>
          </a:p>
          <a:p>
            <a:r>
              <a:t>"OK — nu skifter vi til terminal og browser."</a:t>
            </a:r>
          </a:p>
          <a:p/>
          <a:p>
            <a:r>
              <a:t>"I de næste 15 minutter skriver jeg samme opgave til Claude — først dårligt, så godt."</a:t>
            </a:r>
          </a:p>
          <a:p/>
          <a:p>
            <a:r>
              <a:t>"Kig BÅDE på terminalen og på /demo i browseren ved siden af."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─── LÆS ───</a:t>
            </a:r>
          </a:p>
          <a:p>
            <a:r>
              <a:t>Vis bug'en · 0:20–0:22.</a:t>
            </a:r>
          </a:p>
          <a:p/>
          <a:p>
            <a:r>
              <a:t>─── GØR ───</a:t>
            </a:r>
          </a:p>
          <a:p>
            <a:r>
              <a:t>Skift til browseren. Scroll ned ad /demo. Peg eksplicit på priserne.</a:t>
            </a:r>
          </a:p>
          <a:p>
            <a:r>
              <a:t>Klik på en bolig — vis at detaljesiden har samme problem.</a:t>
            </a:r>
          </a:p>
          <a:p>
            <a:r>
              <a:t>Søg "demo@edc.dk" i favorit-widgeten — også USD-priser.</a:t>
            </a:r>
          </a:p>
          <a:p/>
          <a:p>
            <a:r>
              <a:t>─── SIG ───</a:t>
            </a:r>
          </a:p>
          <a:p>
            <a:r>
              <a:t>"Det her er en dansk bolig-side. Priserne er i amerikanske dollars MED cents. Hele sitet er i stykker visuelt."</a:t>
            </a:r>
          </a:p>
          <a:p/>
          <a:p>
            <a:r>
              <a:t>"Pris-formateringen ligger inline 3 steder uden helper. Det er ikke konstrueret — det er typisk consequence af 'hurtigt fix' nogen lavede engang."</a:t>
            </a:r>
          </a:p>
          <a:p/>
          <a:p>
            <a:r>
              <a:t>"Det er det her vi vil have Claude til at fixe."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─── LÆS ───</a:t>
            </a:r>
          </a:p>
          <a:p>
            <a:r>
              <a:t>Realistisk dårlig · 0:22–0:26. Vi har kørt det her 3 gange — den lander forskelligt hver gang.</a:t>
            </a:r>
          </a:p>
          <a:p/>
          <a:p>
            <a:r>
              <a:t>─── SIG ───</a:t>
            </a:r>
          </a:p>
          <a:p>
            <a:r>
              <a:t>"Det her ligner en prompt de fleste skriver på autopilot — vi nævner symptomet, men ikke hvor i koden det skal fixes."</a:t>
            </a:r>
          </a:p>
          <a:p/>
          <a:p>
            <a:r>
              <a:t>"Det er IKKE en stråmand, det er hverdag."</a:t>
            </a:r>
          </a:p>
          <a:p/>
          <a:p>
            <a:r>
              <a:t>─── GØR ───</a:t>
            </a:r>
          </a:p>
          <a:p>
            <a:r>
              <a:t>Kopier prompten fra slidet ind i Claude. Tryk enter.</a:t>
            </a:r>
          </a:p>
          <a:p/>
          <a:p>
            <a:r>
              <a:t>─── SIG (mens Claude arbejder) ───</a:t>
            </a:r>
          </a:p>
          <a:p>
            <a:r>
              <a:t>"Forventning: den finder ET fix der virker. Men hold den her i baghovedet — vi har kørt det 3 gange, den lander forskelligt hver gang."</a:t>
            </a:r>
          </a:p>
          <a:p/>
          <a:p>
            <a:r>
              <a:t>─── GØR ───</a:t>
            </a:r>
          </a:p>
          <a:p>
            <a:r>
              <a:t>Når Claude er færdig: vis hvad den gjorde, refresh /demo.</a:t>
            </a:r>
          </a:p>
          <a:p/>
          <a:p>
            <a:r>
              <a:t>─── SIG ───</a:t>
            </a:r>
          </a:p>
          <a:p>
            <a:r>
              <a:t>"Det virker! Men hold det her i baghovedet."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─── LÆS ───</a:t>
            </a:r>
          </a:p>
          <a:p>
            <a:r>
              <a:t>Samme opgave, med kontekst · 0:26–0:31.</a:t>
            </a:r>
          </a:p>
          <a:p/>
          <a:p>
            <a:r>
              <a:t>─── GØR ───</a:t>
            </a:r>
          </a:p>
          <a:p>
            <a:r>
              <a:t>Rul tilbage i terminalen (vis det højt mens du gør det):</a:t>
            </a:r>
          </a:p>
          <a:p>
            <a:r>
              <a:t>  git checkout .</a:t>
            </a:r>
          </a:p>
          <a:p>
            <a:r>
              <a:t>  /clear</a:t>
            </a:r>
          </a:p>
          <a:p/>
          <a:p>
            <a:r>
              <a:t>─── SIG ───</a:t>
            </a:r>
          </a:p>
          <a:p>
            <a:r>
              <a:t>"Nu siger vi præcis HVOR (3 filer), HVAD (én helper), og HVORDAN (da-DK, DKK, 0 decimaler)."</a:t>
            </a:r>
          </a:p>
          <a:p/>
          <a:p>
            <a:r>
              <a:t>─── GØR ───</a:t>
            </a:r>
          </a:p>
          <a:p>
            <a:r>
              <a:t>Kopier den gode prompt ind. Tryk enter.</a:t>
            </a:r>
          </a:p>
          <a:p>
            <a:r>
              <a:t>Når den er færdig: vis at den lavede ÉN helper i propertyService.ts, og at de andre 2 filer importerer den. Refresh /demo.</a:t>
            </a:r>
          </a:p>
          <a:p/>
          <a:p>
            <a:r>
              <a:t>─── SIG ───</a:t>
            </a:r>
          </a:p>
          <a:p>
            <a:r>
              <a:t>"Samme visuelle resultat. Helt anden kode-struktur."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─── LÆS ───</a:t>
            </a:r>
          </a:p>
          <a:p>
            <a:r>
              <a:t>Sig det højt · 0:31–0:33. Det her er momentet hvor du SKAL sige det højt — ikke bare lade slidet tale. Det er hele dagen i én sætning.</a:t>
            </a:r>
          </a:p>
          <a:p/>
          <a:p>
            <a:r>
              <a:t>─── SIG ───</a:t>
            </a:r>
          </a:p>
          <a:p>
            <a:r>
              <a:t>"Begge fixes virker visuelt — kr. står overalt. Men kig på koden:"</a:t>
            </a:r>
          </a:p>
          <a:p/>
          <a:p>
            <a:r>
              <a:t>"Den dårlige duplikerede logikken 3 steder."</a:t>
            </a:r>
          </a:p>
          <a:p/>
          <a:p>
            <a:r>
              <a:t>"Den gode lavede én helper, brugt 3 steder."</a:t>
            </a:r>
          </a:p>
          <a:p/>
          <a:p>
            <a:r>
              <a:t>"Om 3 måneder, når en designer beder om at vise øre i favorit-listen, er det den forskel der bestemmer om I bruger 5 minutter eller 30."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─── LÆS ───</a:t>
            </a:r>
          </a:p>
          <a:p>
            <a:r>
              <a:t>Forsikring · 0:33–0:35. Det her slide er forsikring mod den deltager der siger "jamen den dårlige fungerede jo fint". Anerkend det direkte — det er ærligt.</a:t>
            </a:r>
          </a:p>
          <a:p/>
          <a:p>
            <a:r>
              <a:t>─── SIG ───</a:t>
            </a:r>
          </a:p>
          <a:p>
            <a:r>
              <a:t>"I har ret. På denne lille demo med Opus 4.7 er forskellen subtil — Claude er smart nok til at finde et fix der virker, selv når prompten er vag."</a:t>
            </a:r>
          </a:p>
          <a:p/>
          <a:p>
            <a:r>
              <a:t>"Men i jeres rigtige projekter — 100k+ linjer, DTO'er, mappere, migrations, konventioner der ikke er skrevet ned — eksploderer det."</a:t>
            </a:r>
          </a:p>
          <a:p/>
          <a:p>
            <a:r>
              <a:t>"En vag prompt rammer den forkerte fil, glemmer halvdelen af kæden, eller introducerer et abstraktionslag der konflikter med jeres eksisterende."</a:t>
            </a:r>
          </a:p>
          <a:p/>
          <a:p>
            <a:r>
              <a:t>"Vi træner mønsteret her hvor det er sikkert at fejle — så det sidder i fingrene når I er midt i en rigtig PR mandag morgen."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─── LÆS ───</a:t>
            </a:r>
          </a:p>
          <a:p>
            <a:r>
              <a:t>Korte instrukser · 0:35 — start. De skal i gang.</a:t>
            </a:r>
          </a:p>
          <a:p/>
          <a:p>
            <a:r>
              <a:t>─── SIG ───</a:t>
            </a:r>
          </a:p>
          <a:p>
            <a:r>
              <a:t>"Nu jer."</a:t>
            </a:r>
          </a:p>
          <a:p/>
          <a:p>
            <a:r>
              <a:t>"Solo på din egen maskine — du skal selv mærke forskellen i fingrene."</a:t>
            </a:r>
          </a:p>
          <a:p/>
          <a:p>
            <a:r>
              <a:t>"I har 20 minutter."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─── LÆS ───</a:t>
            </a:r>
          </a:p>
          <a:p>
            <a:r>
              <a:t>Mens de arbejder · 0:35–0:55. Gå rundt. Hjælp dem der sidder fast. Lyt efter en god 'aha'-bemærkning du kan bede dem dele bagefter.</a:t>
            </a:r>
          </a:p>
          <a:p/>
          <a:p>
            <a:r>
              <a:t>─── SIG (i starten) ───</a:t>
            </a:r>
          </a:p>
          <a:p>
            <a:r>
              <a:t>"Læs trinene på slidet: clone, npm install, claude i demo. Vælg én opgave fra demoen."</a:t>
            </a:r>
          </a:p>
          <a:p/>
          <a:p>
            <a:r>
              <a:t>"Det vigtigste: prøv BEGGE prompts — ikke bare den gode. Læg mærke til forskellen."</a:t>
            </a:r>
          </a:p>
          <a:p/>
          <a:p>
            <a:r>
              <a:t>"Hvis du sidder fast, ræk hånden op — vi går rundt."</a:t>
            </a:r>
          </a:p>
          <a:p/>
          <a:p>
            <a:r>
              <a:t>─── SIG (med 5 min tilbage) ───</a:t>
            </a:r>
          </a:p>
          <a:p>
            <a:r>
              <a:t>"Saml jer — én indsigt højt fra hver. Den der overraskede jer mest."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─── LÆS ───</a:t>
            </a:r>
          </a:p>
          <a:p>
            <a:r>
              <a:t>Afslutning · 0:55–1:00. Hjemmeopgave nem. Bekræft næste præsentant igen ved navn så de ved det er reelt.</a:t>
            </a:r>
          </a:p>
          <a:p/>
          <a:p>
            <a:r>
              <a:t>─── SIG ───</a:t>
            </a:r>
          </a:p>
          <a:p>
            <a:r>
              <a:t>"Hjemmeopgaven er nem. Brug Claude Code på MINDST én rigtig opgave inden torsdag — i et af jeres rigtige projekter, ikke demoen."</a:t>
            </a:r>
          </a:p>
          <a:p/>
          <a:p>
            <a:r>
              <a:t>"Tag to prompts med til torsdag: én der virkede godt, og én der ikke gjorde."</a:t>
            </a:r>
          </a:p>
          <a:p/>
          <a:p>
            <a:r>
              <a:t>"Vi starter session 2 med at dele dem. Vi lærer mest af de fejlede prompts."</a:t>
            </a:r>
          </a:p>
          <a:p/>
          <a:p>
            <a:r>
              <a:t>"[Navn] tager session 2 om Plan mode. Jeg sender slide-skabelon og pre-work-video senest mandag."</a:t>
            </a:r>
          </a:p>
          <a:p/>
          <a:p>
            <a:r>
              <a:t>"Tak for i dag."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65176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0">
                <a:solidFill>
                  <a:srgbClr val="F5B81C"/>
                </a:solidFill>
                <a:latin typeface="Menlo"/>
              </a:rPr>
              <a:t>Session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91840"/>
            <a:ext cx="121916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400" b="1" i="0">
                <a:solidFill>
                  <a:srgbClr val="FFFFFF"/>
                </a:solidFill>
                <a:latin typeface="Helvetica"/>
              </a:rPr>
              <a:t>Gode vs. dårlige 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29768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C8D4E8"/>
                </a:solidFill>
                <a:latin typeface="Helvetica"/>
              </a:rPr>
              <a:t>Kickoff og fundamentet · EDC × Claude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5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4008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122A52"/>
                </a:solidFill>
                <a:latin typeface="Helvetica"/>
              </a:rPr>
              <a:t>Dagsorden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11091672" cy="4297680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11680"/>
            <a:ext cx="1828800" cy="50292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l"/>
            <a:r>
              <a:rPr sz="1500" b="1">
                <a:solidFill>
                  <a:srgbClr val="FFFFFF"/>
                </a:solidFill>
                <a:latin typeface="Helvetica"/>
              </a:rPr>
              <a:t>0:00–0:05</a:t>
            </a:r>
          </a:p>
        </p:txBody>
      </p:sp>
      <p:sp>
        <p:nvSpPr>
          <p:cNvPr id="6" name="Rectangle 5"/>
          <p:cNvSpPr/>
          <p:nvPr/>
        </p:nvSpPr>
        <p:spPr>
          <a:xfrm>
            <a:off x="2697480" y="2011680"/>
            <a:ext cx="8778240" cy="50292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/>
          <a:lstStyle/>
          <a:p>
            <a:pPr algn="l"/>
            <a:r>
              <a:rPr sz="1500" b="1">
                <a:solidFill>
                  <a:srgbClr val="FFFFFF"/>
                </a:solidFill>
                <a:latin typeface="Helvetica"/>
              </a:rPr>
              <a:t>Velkomst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587752"/>
            <a:ext cx="1828800" cy="50292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l"/>
            <a:r>
              <a:rPr sz="1500" b="1">
                <a:solidFill>
                  <a:srgbClr val="FFFFFF"/>
                </a:solidFill>
                <a:latin typeface="Helvetica"/>
              </a:rPr>
              <a:t>0:05–0:15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2587752"/>
            <a:ext cx="8778240" cy="50292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/>
          <a:lstStyle/>
          <a:p>
            <a:pPr algn="l"/>
            <a:r>
              <a:rPr sz="1500" b="1">
                <a:solidFill>
                  <a:srgbClr val="FFFFFF"/>
                </a:solidFill>
                <a:latin typeface="Helvetica"/>
              </a:rPr>
              <a:t>Foredrag — sådan kører de næste 5 uger + vælg næste præsentant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163824"/>
            <a:ext cx="1828800" cy="50292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l"/>
            <a:r>
              <a:rPr sz="1500" b="1">
                <a:solidFill>
                  <a:srgbClr val="FFFFFF"/>
                </a:solidFill>
                <a:latin typeface="Helvetica"/>
              </a:rPr>
              <a:t>0:15–0:35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80" y="3163824"/>
            <a:ext cx="8778240" cy="50292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/>
          <a:lstStyle/>
          <a:p>
            <a:pPr algn="l"/>
            <a:r>
              <a:rPr sz="1500" b="1">
                <a:solidFill>
                  <a:srgbClr val="FFFFFF"/>
                </a:solidFill>
                <a:latin typeface="Helvetica"/>
              </a:rPr>
              <a:t>Live demo — samme opgave, dårlig vs. god prompt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739896"/>
            <a:ext cx="1828800" cy="50292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l"/>
            <a:r>
              <a:rPr sz="1500" b="1">
                <a:solidFill>
                  <a:srgbClr val="FFFFFF"/>
                </a:solidFill>
                <a:latin typeface="Helvetica"/>
              </a:rPr>
              <a:t>0:35–0:55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80" y="3739896"/>
            <a:ext cx="8778240" cy="50292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/>
          <a:lstStyle/>
          <a:p>
            <a:pPr algn="l"/>
            <a:r>
              <a:rPr sz="1500" b="1">
                <a:solidFill>
                  <a:srgbClr val="FFFFFF"/>
                </a:solidFill>
                <a:latin typeface="Helvetica"/>
              </a:rPr>
              <a:t>Hands-on — solo på din egen maskine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315968"/>
            <a:ext cx="1828800" cy="50292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l"/>
            <a:r>
              <a:rPr sz="1500" b="1">
                <a:solidFill>
                  <a:srgbClr val="FFFFFF"/>
                </a:solidFill>
                <a:latin typeface="Helvetica"/>
              </a:rPr>
              <a:t>0:55–1:00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80" y="4315968"/>
            <a:ext cx="8778240" cy="50292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/>
          <a:lstStyle/>
          <a:p>
            <a:pPr algn="l"/>
            <a:r>
              <a:rPr sz="1500" b="1">
                <a:solidFill>
                  <a:srgbClr val="FFFFFF"/>
                </a:solidFill>
                <a:latin typeface="Helvetica"/>
              </a:rPr>
              <a:t>Del indsigter + take-home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B8A"/>
                </a:solidFill>
                <a:latin typeface="Helvetica"/>
              </a:rPr>
              <a:t>2 |</a:t>
            </a:r>
          </a:p>
        </p:txBody>
      </p:sp>
      <p:pic>
        <p:nvPicPr>
          <p:cNvPr id="18" name="Picture 17" descr="ed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263640"/>
            <a:ext cx="59436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9144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22A52"/>
                </a:solidFill>
                <a:latin typeface="Helvetica"/>
              </a:rPr>
              <a:t>Vores rolle</a:t>
            </a:r>
            <a:r>
              <a:rPr sz="3400" b="0">
                <a:solidFill>
                  <a:srgbClr val="122A52"/>
                </a:solidFill>
                <a:latin typeface="Helvetica"/>
              </a:rPr>
              <a:t> | Facilitatorer, ikke eksperter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11091672" cy="1920240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2468880"/>
            <a:ext cx="640080" cy="640080"/>
          </a:xfrm>
          <a:prstGeom prst="ellipse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Helvetic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148840"/>
            <a:ext cx="9445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22A52"/>
                </a:solidFill>
                <a:latin typeface="Helvetica"/>
              </a:rPr>
              <a:t>Vi er facilitatorer hele forløbet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697480"/>
            <a:ext cx="944575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122A52"/>
                </a:solidFill>
                <a:latin typeface="Helvetica"/>
              </a:rPr>
              <a:t>Michael og jeg står for </a:t>
            </a:r>
            <a:r>
              <a:rPr sz="1600" b="1">
                <a:solidFill>
                  <a:srgbClr val="122A52"/>
                </a:solidFill>
                <a:latin typeface="Helvetica"/>
              </a:rPr>
              <a:t>selve faciliteringen</a:t>
            </a:r>
            <a:r>
              <a:rPr sz="1600" b="0">
                <a:solidFill>
                  <a:srgbClr val="122A52"/>
                </a:solidFill>
                <a:latin typeface="Helvetica"/>
              </a:rPr>
              <a:t> alle 5 uger. Vi er her for at gøre det trygt og holde tråden — det her er et hold der lærer sammen.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023360"/>
            <a:ext cx="11091672" cy="1920240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4663440"/>
            <a:ext cx="640080" cy="640080"/>
          </a:xfrm>
          <a:prstGeom prst="ellipse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Helvetic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4343400"/>
            <a:ext cx="9445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22A52"/>
                </a:solidFill>
                <a:latin typeface="Helvetica"/>
              </a:rPr>
              <a:t>I underviser hinanden fra session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4892040"/>
            <a:ext cx="944575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122A52"/>
                </a:solidFill>
                <a:latin typeface="Helvetica"/>
              </a:rPr>
              <a:t>Fra session 2 er det </a:t>
            </a:r>
            <a:r>
              <a:rPr sz="1600" b="1">
                <a:solidFill>
                  <a:srgbClr val="122A52"/>
                </a:solidFill>
                <a:latin typeface="Helvetica"/>
              </a:rPr>
              <a:t>én deltager fra holdet</a:t>
            </a:r>
            <a:r>
              <a:rPr sz="1600" b="0">
                <a:solidFill>
                  <a:srgbClr val="122A52"/>
                </a:solidFill>
                <a:latin typeface="Helvetica"/>
              </a:rPr>
              <a:t> der præsenterer dagens emne. Vi hjælper med slides ugen før, så ingen står alene med det. </a:t>
            </a:r>
            <a:r>
              <a:rPr sz="1600" b="1">
                <a:solidFill>
                  <a:srgbClr val="122A52"/>
                </a:solidFill>
                <a:latin typeface="Helvetica"/>
              </a:rPr>
              <a:t>Pointe:</a:t>
            </a:r>
            <a:r>
              <a:rPr sz="1600" b="0">
                <a:solidFill>
                  <a:srgbClr val="122A52"/>
                </a:solidFill>
                <a:latin typeface="Helvetica"/>
              </a:rPr>
              <a:t> I lærer det bedst ved at undervise det.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B8A"/>
                </a:solidFill>
                <a:latin typeface="Helvetica"/>
              </a:rPr>
              <a:t>3 |</a:t>
            </a:r>
          </a:p>
        </p:txBody>
      </p:sp>
      <p:pic>
        <p:nvPicPr>
          <p:cNvPr id="15" name="Picture 14" descr="ed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263640"/>
            <a:ext cx="59436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9144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22A52"/>
                </a:solidFill>
                <a:latin typeface="Helvetica"/>
              </a:rPr>
              <a:t>Nu</a:t>
            </a:r>
            <a:r>
              <a:rPr sz="3400" b="0">
                <a:solidFill>
                  <a:srgbClr val="122A52"/>
                </a:solidFill>
                <a:latin typeface="Helvetica"/>
              </a:rPr>
              <a:t> | Vælg næste præsentant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11091672" cy="3200400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5-Point Star 4"/>
          <p:cNvSpPr/>
          <p:nvPr/>
        </p:nvSpPr>
        <p:spPr>
          <a:xfrm>
            <a:off x="914400" y="2377440"/>
            <a:ext cx="1005840" cy="1005840"/>
          </a:xfrm>
          <a:prstGeom prst="star5">
            <a:avLst/>
          </a:prstGeom>
          <a:solidFill>
            <a:srgbClr val="F5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228600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5B81C"/>
                </a:solidFill>
                <a:latin typeface="Menlo"/>
              </a:rPr>
              <a:t>Hvem vil tage session 2?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26974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22A52"/>
                </a:solidFill>
                <a:latin typeface="Helvetica"/>
              </a:rPr>
              <a:t>Plan mode vs. ikke plan 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32461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556B8A"/>
                </a:solidFill>
                <a:latin typeface="Helvetica"/>
              </a:rPr>
              <a:t>Torsdag · uge 1 · 1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3931920"/>
            <a:ext cx="9144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22A52"/>
                </a:solidFill>
                <a:latin typeface="Helvetica"/>
              </a:rPr>
              <a:t>Jeg sender slide-skabelon og pre-work-video </a:t>
            </a:r>
            <a:r>
              <a:rPr sz="1500" b="1">
                <a:solidFill>
                  <a:srgbClr val="122A52"/>
                </a:solidFill>
                <a:latin typeface="Helvetica"/>
              </a:rPr>
              <a:t>senest mandag eftermiddag</a:t>
            </a:r>
            <a:r>
              <a:rPr sz="1500" b="0">
                <a:solidFill>
                  <a:srgbClr val="122A52"/>
                </a:solidFill>
                <a:latin typeface="Helvetica"/>
              </a:rPr>
              <a:t>, så I står ikke alene med det. Hvis ingen melder sig, vælger vi én — og vi gentager øvelsen i slutningen af hver session.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B8A"/>
                </a:solidFill>
                <a:latin typeface="Helvetica"/>
              </a:rPr>
              <a:t>4 |</a:t>
            </a:r>
          </a:p>
        </p:txBody>
      </p:sp>
      <p:pic>
        <p:nvPicPr>
          <p:cNvPr id="13" name="Picture 12" descr="ed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263640"/>
            <a:ext cx="59436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9144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22A52"/>
                </a:solidFill>
                <a:latin typeface="Helvetica"/>
              </a:rPr>
              <a:t>Dagens kerne</a:t>
            </a:r>
            <a:r>
              <a:rPr sz="3400" b="0">
                <a:solidFill>
                  <a:srgbClr val="122A52"/>
                </a:solidFill>
                <a:latin typeface="Helvetica"/>
              </a:rPr>
              <a:t> | En prompt er alt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556B8A"/>
                </a:solidFill>
                <a:latin typeface="Helvetica"/>
              </a:rPr>
              <a:t>En dårlig prompt giver generisk kode.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22A52"/>
                </a:solidFill>
                <a:latin typeface="Helvetica"/>
              </a:rPr>
              <a:t>En god prompt giver produktionsklar kode.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029200"/>
            <a:ext cx="11091672" cy="914400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1109167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0">
                <a:solidFill>
                  <a:srgbClr val="122A52"/>
                </a:solidFill>
                <a:latin typeface="Helvetica"/>
              </a:rPr>
              <a:t>Forskellen er hvor meget kontekst du giver Claude.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B8A"/>
                </a:solidFill>
                <a:latin typeface="Helvetica"/>
              </a:rPr>
              <a:t>5 |</a:t>
            </a:r>
          </a:p>
        </p:txBody>
      </p:sp>
      <p:pic>
        <p:nvPicPr>
          <p:cNvPr id="11" name="Picture 10" descr="ed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263640"/>
            <a:ext cx="59436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9144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22A52"/>
                </a:solidFill>
                <a:latin typeface="Helvetica"/>
              </a:rPr>
              <a:t>De 4 byggeklodser</a:t>
            </a:r>
            <a:r>
              <a:rPr sz="3400" b="0">
                <a:solidFill>
                  <a:srgbClr val="122A52"/>
                </a:solidFill>
                <a:latin typeface="Helvetica"/>
              </a:rPr>
              <a:t> | En god prompt har altid disse fire dele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03120"/>
            <a:ext cx="2606040" cy="3108960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2468880"/>
            <a:ext cx="548640" cy="548640"/>
          </a:xfrm>
          <a:prstGeom prst="ellipse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Helvetic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291840"/>
            <a:ext cx="1874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122A52"/>
                </a:solidFill>
                <a:latin typeface="Helvetica"/>
              </a:rPr>
              <a:t>Kontekst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023360"/>
            <a:ext cx="1874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22A52"/>
                </a:solidFill>
                <a:latin typeface="Helvetica"/>
              </a:rPr>
              <a:t>Hvilke filer skal
Claude læse?</a:t>
            </a:r>
          </a:p>
        </p:txBody>
      </p:sp>
      <p:sp>
        <p:nvSpPr>
          <p:cNvPr id="8" name="Rectangle 7"/>
          <p:cNvSpPr/>
          <p:nvPr/>
        </p:nvSpPr>
        <p:spPr>
          <a:xfrm>
            <a:off x="3410712" y="2103120"/>
            <a:ext cx="2606040" cy="3108960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76472" y="2468880"/>
            <a:ext cx="548640" cy="548640"/>
          </a:xfrm>
          <a:prstGeom prst="ellipse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Helvetic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76472" y="3291840"/>
            <a:ext cx="1874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122A52"/>
                </a:solidFill>
                <a:latin typeface="Helvetica"/>
              </a:rPr>
              <a:t>Opgave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76472" y="4023360"/>
            <a:ext cx="1874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22A52"/>
                </a:solidFill>
                <a:latin typeface="Helvetica"/>
              </a:rPr>
              <a:t>Hvad vil du have
gjort? Verbum først.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1344" y="2103120"/>
            <a:ext cx="2606040" cy="3108960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47104" y="2468880"/>
            <a:ext cx="548640" cy="548640"/>
          </a:xfrm>
          <a:prstGeom prst="ellipse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Helvetic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3291840"/>
            <a:ext cx="1874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122A52"/>
                </a:solidFill>
                <a:latin typeface="Helvetica"/>
              </a:rPr>
              <a:t>Begrænsninger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4023360"/>
            <a:ext cx="1874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22A52"/>
                </a:solidFill>
                <a:latin typeface="Helvetica"/>
              </a:rPr>
              <a:t>Hvad må Claude
IKKE røre?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51976" y="2103120"/>
            <a:ext cx="2606040" cy="3108960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17736" y="2468880"/>
            <a:ext cx="548640" cy="548640"/>
          </a:xfrm>
          <a:prstGeom prst="ellipse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Helvetic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17736" y="3291840"/>
            <a:ext cx="1874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122A52"/>
                </a:solidFill>
                <a:latin typeface="Helvetica"/>
              </a:rPr>
              <a:t>Forventet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17736" y="4023360"/>
            <a:ext cx="1874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22A52"/>
                </a:solidFill>
                <a:latin typeface="Helvetica"/>
              </a:rPr>
              <a:t>Hvad ser "done"
ud som?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532120"/>
            <a:ext cx="110916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556B8A"/>
                </a:solidFill>
                <a:latin typeface="Menlo"/>
              </a:rPr>
              <a:t>[Kontekst] + [Opgave] + [Begrænsninger] + [Forventet output]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B8A"/>
                </a:solidFill>
                <a:latin typeface="Helvetica"/>
              </a:rPr>
              <a:t>6 |</a:t>
            </a:r>
          </a:p>
        </p:txBody>
      </p:sp>
      <p:pic>
        <p:nvPicPr>
          <p:cNvPr id="24" name="Picture 23" descr="ed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263640"/>
            <a:ext cx="59436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9144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22A52"/>
                </a:solidFill>
                <a:latin typeface="Helvetica"/>
              </a:rPr>
              <a:t>Tryghed fra start</a:t>
            </a:r>
            <a:r>
              <a:rPr sz="3400" b="0">
                <a:solidFill>
                  <a:srgbClr val="122A52"/>
                </a:solidFill>
                <a:latin typeface="Helvetica"/>
              </a:rPr>
              <a:t> | Esc · Esc — undo for hele sessionen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4114800" cy="2286000"/>
          </a:xfrm>
          <a:prstGeom prst="roundRect">
            <a:avLst>
              <a:gd name="adj" fmla="val 8000"/>
            </a:avLst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411480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1" i="0">
                <a:solidFill>
                  <a:srgbClr val="FFFFFF"/>
                </a:solidFill>
                <a:latin typeface="Menlo"/>
              </a:rPr>
              <a:t>Esc · Esc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2103120"/>
            <a:ext cx="65836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800" b="1">
                <a:solidFill>
                  <a:srgbClr val="122A52"/>
                </a:solidFill>
                <a:latin typeface="Helvetica"/>
              </a:rPr>
              <a:t>■   </a:t>
            </a:r>
            <a:r>
              <a:rPr sz="1800" b="0">
                <a:solidFill>
                  <a:srgbClr val="122A52"/>
                </a:solidFill>
                <a:latin typeface="Helvetica"/>
              </a:rPr>
              <a:t>Tryk </a:t>
            </a:r>
            <a:r>
              <a:rPr sz="1800" b="1">
                <a:solidFill>
                  <a:srgbClr val="122A52"/>
                </a:solidFill>
                <a:latin typeface="Helvetica"/>
              </a:rPr>
              <a:t>Esc</a:t>
            </a:r>
            <a:r>
              <a:rPr sz="1800" b="0">
                <a:solidFill>
                  <a:srgbClr val="122A52"/>
                </a:solidFill>
                <a:latin typeface="Helvetica"/>
              </a:rPr>
              <a:t> to gange → rewind-menu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800" b="1">
                <a:solidFill>
                  <a:srgbClr val="122A52"/>
                </a:solidFill>
                <a:latin typeface="Helvetica"/>
              </a:rPr>
              <a:t>■   </a:t>
            </a:r>
            <a:r>
              <a:rPr sz="1800" b="0">
                <a:solidFill>
                  <a:srgbClr val="122A52"/>
                </a:solidFill>
                <a:latin typeface="Helvetica"/>
              </a:rPr>
              <a:t>Vælg et tidligere step → filerne ruller tilbage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800" b="1">
                <a:solidFill>
                  <a:srgbClr val="122A52"/>
                </a:solidFill>
                <a:latin typeface="Helvetica"/>
              </a:rPr>
              <a:t>■   </a:t>
            </a:r>
            <a:r>
              <a:rPr sz="1800" b="0">
                <a:solidFill>
                  <a:srgbClr val="122A52"/>
                </a:solidFill>
                <a:latin typeface="Helvetica"/>
              </a:rPr>
              <a:t>Vi går i dybden i </a:t>
            </a:r>
            <a:r>
              <a:rPr sz="1800" b="1">
                <a:solidFill>
                  <a:srgbClr val="122A52"/>
                </a:solidFill>
                <a:latin typeface="Helvetica"/>
              </a:rPr>
              <a:t>session 3</a:t>
            </a:r>
            <a:r>
              <a:rPr sz="1800" b="0">
                <a:solidFill>
                  <a:srgbClr val="122A52"/>
                </a:solidFill>
                <a:latin typeface="Helvetica"/>
              </a:rPr>
              <a:t> — men brug det fra dag 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754880"/>
            <a:ext cx="11091672" cy="1188720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122A52"/>
                </a:solidFill>
                <a:latin typeface="Helvetica"/>
              </a:rPr>
              <a:t>Det er det her der gør det </a:t>
            </a:r>
            <a:r>
              <a:rPr sz="1800" b="1">
                <a:solidFill>
                  <a:srgbClr val="122A52"/>
                </a:solidFill>
                <a:latin typeface="Helvetica"/>
              </a:rPr>
              <a:t>trygt</a:t>
            </a:r>
            <a:r>
              <a:rPr sz="1800" b="0">
                <a:solidFill>
                  <a:srgbClr val="122A52"/>
                </a:solidFill>
                <a:latin typeface="Helvetica"/>
              </a:rPr>
              <a:t> at lade Claude prøve noget vildt. Hvis I aldrig kan rulle tilbage, tør I aldrig prøve noget nyt.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B8A"/>
                </a:solidFill>
                <a:latin typeface="Helvetica"/>
              </a:rPr>
              <a:t>7 |</a:t>
            </a:r>
          </a:p>
        </p:txBody>
      </p:sp>
      <p:pic>
        <p:nvPicPr>
          <p:cNvPr id="12" name="Picture 11" descr="ed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263640"/>
            <a:ext cx="59436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d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327" y="1645920"/>
            <a:ext cx="1463040" cy="146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365760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0">
                <a:solidFill>
                  <a:srgbClr val="F5B81C"/>
                </a:solidFill>
                <a:latin typeface="Menlo"/>
              </a:rPr>
              <a:t>Punkt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29768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Helvetica"/>
              </a:rPr>
              <a:t>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02920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C8D4E8"/>
                </a:solidFill>
                <a:latin typeface="Helvetica"/>
              </a:rPr>
              <a:t>Samme opgave — dårlig prompt vs. god 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5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9144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22A52"/>
                </a:solidFill>
                <a:latin typeface="Helvetica"/>
              </a:rPr>
              <a:t>Bug'en på /demo</a:t>
            </a:r>
            <a:r>
              <a:rPr sz="3400" b="0">
                <a:solidFill>
                  <a:srgbClr val="122A52"/>
                </a:solidFill>
                <a:latin typeface="Helvetica"/>
              </a:rPr>
              <a:t> | Priser i USD med cents på en dansk side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03120"/>
            <a:ext cx="5349240" cy="3383280"/>
          </a:xfrm>
          <a:prstGeom prst="rect">
            <a:avLst/>
          </a:prstGeom>
          <a:solidFill>
            <a:srgbClr val="FA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8B1F1F"/>
                </a:solidFill>
                <a:latin typeface="Helvetica"/>
              </a:rPr>
              <a:t>NU (BUG)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71800"/>
            <a:ext cx="46177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8B1F1F"/>
                </a:solidFill>
                <a:latin typeface="Menlo"/>
              </a:rPr>
              <a:t>$8,500,000.00
$4,250,000.00
$6,900,000.00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2103120"/>
            <a:ext cx="5349240" cy="3383280"/>
          </a:xfrm>
          <a:prstGeom prst="rect">
            <a:avLst/>
          </a:prstGeom>
          <a:solidFill>
            <a:srgbClr val="D7E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2377440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32D"/>
                </a:solidFill>
                <a:latin typeface="Helvetica"/>
              </a:rPr>
              <a:t>ØNSKET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971800"/>
            <a:ext cx="46177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14532D"/>
                </a:solidFill>
                <a:latin typeface="Menlo"/>
              </a:rPr>
              <a:t>8.500.000 kr.
4.250.000 kr.
6.900.000 kr.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556B8A"/>
                </a:solidFill>
                <a:latin typeface="Helvetica"/>
              </a:rPr>
              <a:t>Pris-formateringen ligger inline 3 steder uden helper — typisk consequence af "hurtigt fix".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B8A"/>
                </a:solidFill>
                <a:latin typeface="Helvetica"/>
              </a:rPr>
              <a:t>9 |</a:t>
            </a:r>
          </a:p>
        </p:txBody>
      </p:sp>
      <p:pic>
        <p:nvPicPr>
          <p:cNvPr id="14" name="Picture 13" descr="ed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263640"/>
            <a:ext cx="59436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9144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22A52"/>
                </a:solidFill>
                <a:latin typeface="Helvetica"/>
              </a:rPr>
              <a:t>Forsøg 1</a:t>
            </a:r>
            <a:r>
              <a:rPr sz="3400" b="0">
                <a:solidFill>
                  <a:srgbClr val="122A52"/>
                </a:solidFill>
                <a:latin typeface="Helvetica"/>
              </a:rPr>
              <a:t> | Dårlig prompt — "realistisk dårlig"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10908792" cy="1828800"/>
          </a:xfrm>
          <a:prstGeom prst="roundRect">
            <a:avLst>
              <a:gd name="adj" fmla="val 4000"/>
            </a:avLst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5760" rIns="365760" tIns="274320" bIns="274320" wrap="square"/>
          <a:lstStyle/>
          <a:p>
            <a:pPr algn="l">
              <a:lnSpc>
                <a:spcPct val="125000"/>
              </a:lnSpc>
            </a:pPr>
            <a:r>
              <a:rPr sz="1800">
                <a:solidFill>
                  <a:srgbClr val="E2E8F0"/>
                </a:solidFill>
                <a:latin typeface="Menlo"/>
              </a:rPr>
              <a:t>Priserne på /demo vises som amerikanske dollars med cents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E2E8F0"/>
                </a:solidFill>
                <a:latin typeface="Menlo"/>
              </a:rPr>
              <a:t>(fx "$8,500,000.00") overalt. Det er en dansk side.</a:t>
            </a:r>
          </a:p>
          <a:p>
            <a:pPr algn="l">
              <a:lnSpc>
                <a:spcPct val="125000"/>
              </a:lnSpc>
            </a:pPr>
            <a:r>
              <a:rPr sz="1800">
                <a:solidFill>
                  <a:srgbClr val="E2E8F0"/>
                </a:solidFill>
                <a:latin typeface="Menlo"/>
              </a:rPr>
              <a:t>Fix det. Ingen commit eller push.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22A52"/>
                </a:solidFill>
                <a:latin typeface="Helvetica"/>
              </a:rPr>
              <a:t>Hvad sker der?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600" b="1">
                <a:solidFill>
                  <a:srgbClr val="122A52"/>
                </a:solidFill>
                <a:latin typeface="Helvetica"/>
              </a:rPr>
              <a:t>■   </a:t>
            </a:r>
            <a:r>
              <a:rPr sz="1600" b="0">
                <a:solidFill>
                  <a:srgbClr val="122A52"/>
                </a:solidFill>
                <a:latin typeface="Helvetica"/>
              </a:rPr>
              <a:t>Claude finder *et* fix — men forskelligt hver gang du kører prompten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600" b="1">
                <a:solidFill>
                  <a:srgbClr val="122A52"/>
                </a:solidFill>
                <a:latin typeface="Helvetica"/>
              </a:rPr>
              <a:t>■   </a:t>
            </a:r>
            <a:r>
              <a:rPr sz="1600" b="0">
                <a:solidFill>
                  <a:srgbClr val="122A52"/>
                </a:solidFill>
                <a:latin typeface="Helvetica"/>
              </a:rPr>
              <a:t>Inline-duplikering 3 steder, eller patch kun én fil og misser resten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600" b="1">
                <a:solidFill>
                  <a:srgbClr val="122A52"/>
                </a:solidFill>
                <a:latin typeface="Helvetica"/>
              </a:rPr>
              <a:t>■   </a:t>
            </a:r>
            <a:r>
              <a:rPr sz="1600" b="0">
                <a:solidFill>
                  <a:srgbClr val="122A52"/>
                </a:solidFill>
                <a:latin typeface="Helvetica"/>
              </a:rPr>
              <a:t>Det "virker" — men efterlader kode der er svær at vedligeholde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B8A"/>
                </a:solidFill>
                <a:latin typeface="Helvetica"/>
              </a:rPr>
              <a:t>10 |</a:t>
            </a:r>
          </a:p>
        </p:txBody>
      </p:sp>
      <p:pic>
        <p:nvPicPr>
          <p:cNvPr id="10" name="Picture 9" descr="ed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263640"/>
            <a:ext cx="59436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9144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22A52"/>
                </a:solidFill>
                <a:latin typeface="Helvetica"/>
              </a:rPr>
              <a:t>Forsøg 2</a:t>
            </a:r>
            <a:r>
              <a:rPr sz="3400" b="0">
                <a:solidFill>
                  <a:srgbClr val="122A52"/>
                </a:solidFill>
                <a:latin typeface="Helvetica"/>
              </a:rPr>
              <a:t> | God prompt — samme opgave, med kontekst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08792" cy="4023360"/>
          </a:xfrm>
          <a:prstGeom prst="roundRect">
            <a:avLst>
              <a:gd name="adj" fmla="val 4000"/>
            </a:avLst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5760" rIns="365760" tIns="274320" bIns="274320" wrap="square"/>
          <a:lstStyle/>
          <a:p>
            <a:pPr algn="l">
              <a:lnSpc>
                <a:spcPct val="125000"/>
              </a:lnSpc>
            </a:pPr>
            <a:r>
              <a:rPr sz="1400">
                <a:solidFill>
                  <a:srgbClr val="E2E8F0"/>
                </a:solidFill>
                <a:latin typeface="Menlo"/>
              </a:rPr>
              <a:t>Pris-formateringen ligger inline tre steder med</a:t>
            </a:r>
          </a:p>
          <a:p>
            <a:pPr algn="l">
              <a:lnSpc>
                <a:spcPct val="125000"/>
              </a:lnSpc>
            </a:pPr>
            <a:r>
              <a:rPr sz="1400">
                <a:solidFill>
                  <a:srgbClr val="E2E8F0"/>
                </a:solidFill>
                <a:latin typeface="Menlo"/>
              </a:rPr>
              <a:t>Intl.NumberFormat('en-US', { style: 'currency',</a:t>
            </a:r>
          </a:p>
          <a:p>
            <a:pPr algn="l">
              <a:lnSpc>
                <a:spcPct val="125000"/>
              </a:lnSpc>
            </a:pPr>
            <a:r>
              <a:rPr sz="1400">
                <a:solidFill>
                  <a:srgbClr val="E2E8F0"/>
                </a:solidFill>
                <a:latin typeface="Menlo"/>
              </a:rPr>
              <a:t>currency: 'USD', maximumFractionDigits: 2 }):</a:t>
            </a:r>
          </a:p>
          <a:p>
            <a:pPr algn="l">
              <a:lnSpc>
                <a:spcPct val="125000"/>
              </a:lnSpc>
            </a:pPr>
            <a:r>
              <a:rPr sz="1400">
                <a:solidFill>
                  <a:srgbClr val="E2E8F0"/>
                </a:solidFill>
                <a:latin typeface="Menlo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sz="1400">
                <a:solidFill>
                  <a:srgbClr val="E2E8F0"/>
                </a:solidFill>
                <a:latin typeface="Menlo"/>
              </a:rPr>
              <a:t>- lib/propertyService.ts (i getAll, formattedPrice)</a:t>
            </a:r>
          </a:p>
          <a:p>
            <a:pPr algn="l">
              <a:lnSpc>
                <a:spcPct val="125000"/>
              </a:lnSpc>
            </a:pPr>
            <a:r>
              <a:rPr sz="1400">
                <a:solidFill>
                  <a:srgbClr val="E2E8F0"/>
                </a:solidFill>
                <a:latin typeface="Menlo"/>
              </a:rPr>
              <a:t>- components/PropertyCard.tsx</a:t>
            </a:r>
          </a:p>
          <a:p>
            <a:pPr algn="l">
              <a:lnSpc>
                <a:spcPct val="125000"/>
              </a:lnSpc>
            </a:pPr>
            <a:r>
              <a:rPr sz="1400">
                <a:solidFill>
                  <a:srgbClr val="E2E8F0"/>
                </a:solidFill>
                <a:latin typeface="Menlo"/>
              </a:rPr>
              <a:t>- app/properties/[id]/page.tsx (formattedPrice)</a:t>
            </a:r>
          </a:p>
          <a:p>
            <a:pPr algn="l">
              <a:lnSpc>
                <a:spcPct val="125000"/>
              </a:lnSpc>
            </a:pPr>
            <a:r>
              <a:rPr sz="1400">
                <a:solidFill>
                  <a:srgbClr val="E2E8F0"/>
                </a:solidFill>
                <a:latin typeface="Menlo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sz="1400">
                <a:solidFill>
                  <a:srgbClr val="E2E8F0"/>
                </a:solidFill>
                <a:latin typeface="Menlo"/>
              </a:rPr>
              <a:t>Lav en formatPrice(price: number)-helper i</a:t>
            </a:r>
          </a:p>
          <a:p>
            <a:pPr algn="l">
              <a:lnSpc>
                <a:spcPct val="125000"/>
              </a:lnSpc>
            </a:pPr>
            <a:r>
              <a:rPr sz="1400">
                <a:solidFill>
                  <a:srgbClr val="E2E8F0"/>
                </a:solidFill>
                <a:latin typeface="Menlo"/>
              </a:rPr>
              <a:t>lib/propertyService.ts der bruger 'da-DK', 'DKK' og</a:t>
            </a:r>
          </a:p>
          <a:p>
            <a:pPr algn="l">
              <a:lnSpc>
                <a:spcPct val="125000"/>
              </a:lnSpc>
            </a:pPr>
            <a:r>
              <a:rPr sz="1400">
                <a:solidFill>
                  <a:srgbClr val="E2E8F0"/>
                </a:solidFill>
                <a:latin typeface="Menlo"/>
              </a:rPr>
              <a:t>maximumFractionDigits: 0. Brug den fra alle tre steder.</a:t>
            </a:r>
          </a:p>
          <a:p>
            <a:pPr algn="l">
              <a:lnSpc>
                <a:spcPct val="125000"/>
              </a:lnSpc>
            </a:pPr>
            <a:r>
              <a:rPr sz="1400">
                <a:solidFill>
                  <a:srgbClr val="E2E8F0"/>
                </a:solidFill>
                <a:latin typeface="Menlo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sz="1400">
                <a:solidFill>
                  <a:srgbClr val="E2E8F0"/>
                </a:solidFill>
                <a:latin typeface="Menlo"/>
              </a:rPr>
              <a:t>Rør intet andet. Ingen commit eller push.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943600"/>
            <a:ext cx="10908792" cy="594360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1090879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22A52"/>
                </a:solidFill>
                <a:latin typeface="Helvetica"/>
              </a:rPr>
              <a:t>Resultat: én helper, brugt 3 steder. Deterministisk.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B8A"/>
                </a:solidFill>
                <a:latin typeface="Helvetica"/>
              </a:rPr>
              <a:t>11 |</a:t>
            </a:r>
          </a:p>
        </p:txBody>
      </p:sp>
      <p:pic>
        <p:nvPicPr>
          <p:cNvPr id="10" name="Picture 9" descr="ed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263640"/>
            <a:ext cx="59436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9144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22A52"/>
                </a:solidFill>
                <a:latin typeface="Helvetica"/>
              </a:rPr>
              <a:t>Pointen</a:t>
            </a:r>
            <a:r>
              <a:rPr sz="3400" b="0">
                <a:solidFill>
                  <a:srgbClr val="122A52"/>
                </a:solidFill>
                <a:latin typeface="Helvetica"/>
              </a:rPr>
              <a:t> | Begge fixes virker visuelt — kun den ene efterlader sund kode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011680"/>
            <a:ext cx="5349240" cy="3657600"/>
          </a:xfrm>
          <a:prstGeom prst="rect">
            <a:avLst/>
          </a:prstGeom>
          <a:solidFill>
            <a:srgbClr val="FA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8B1F1F"/>
                </a:solidFill>
                <a:latin typeface="Helvetica"/>
              </a:rPr>
              <a:t>DÅRLIG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88920"/>
            <a:ext cx="4617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22A52"/>
                </a:solidFill>
                <a:latin typeface="Helvetica"/>
              </a:rPr>
              <a:t>3 inline-kopier af samme logik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840480"/>
            <a:ext cx="46177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1">
                <a:solidFill>
                  <a:srgbClr val="8B1F1F"/>
                </a:solidFill>
                <a:latin typeface="Helvetica"/>
              </a:rPr>
              <a:t>■   </a:t>
            </a:r>
            <a:r>
              <a:rPr sz="1500" b="0">
                <a:solidFill>
                  <a:srgbClr val="122A52"/>
                </a:solidFill>
                <a:latin typeface="Helvetica"/>
              </a:rPr>
              <a:t>DRY brudt — ændring kræver 3 filer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1">
                <a:solidFill>
                  <a:srgbClr val="8B1F1F"/>
                </a:solidFill>
                <a:latin typeface="Helvetica"/>
              </a:rPr>
              <a:t>■   </a:t>
            </a:r>
            <a:r>
              <a:rPr sz="1500" b="0">
                <a:solidFill>
                  <a:srgbClr val="122A52"/>
                </a:solidFill>
                <a:latin typeface="Helvetica"/>
              </a:rPr>
              <a:t>Forskelligt resultat hver kørsel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1">
                <a:solidFill>
                  <a:srgbClr val="8B1F1F"/>
                </a:solidFill>
                <a:latin typeface="Helvetica"/>
              </a:rPr>
              <a:t>■   </a:t>
            </a:r>
            <a:r>
              <a:rPr sz="1500" b="0">
                <a:solidFill>
                  <a:srgbClr val="122A52"/>
                </a:solidFill>
                <a:latin typeface="Helvetica"/>
              </a:rPr>
              <a:t>Nogle gange ufuldstændig fix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2011680"/>
            <a:ext cx="5349240" cy="3657600"/>
          </a:xfrm>
          <a:prstGeom prst="rect">
            <a:avLst/>
          </a:prstGeom>
          <a:solidFill>
            <a:srgbClr val="D7E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286000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32D"/>
                </a:solidFill>
                <a:latin typeface="Helvetica"/>
              </a:rPr>
              <a:t>GOD 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788920"/>
            <a:ext cx="4617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22A52"/>
                </a:solidFill>
                <a:latin typeface="Helvetica"/>
              </a:rPr>
              <a:t>1 helper, brugt 3 steder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840480"/>
            <a:ext cx="46177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1">
                <a:solidFill>
                  <a:srgbClr val="14532D"/>
                </a:solidFill>
                <a:latin typeface="Helvetica"/>
              </a:rPr>
              <a:t>■   </a:t>
            </a:r>
            <a:r>
              <a:rPr sz="1500" b="0">
                <a:solidFill>
                  <a:srgbClr val="122A52"/>
                </a:solidFill>
                <a:latin typeface="Helvetica"/>
              </a:rPr>
              <a:t>Ét sted at ændre fremover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1">
                <a:solidFill>
                  <a:srgbClr val="14532D"/>
                </a:solidFill>
                <a:latin typeface="Helvetica"/>
              </a:rPr>
              <a:t>■   </a:t>
            </a:r>
            <a:r>
              <a:rPr sz="1500" b="0">
                <a:solidFill>
                  <a:srgbClr val="122A52"/>
                </a:solidFill>
                <a:latin typeface="Helvetica"/>
              </a:rPr>
              <a:t>Deterministisk — samme resultat hver gang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1">
                <a:solidFill>
                  <a:srgbClr val="14532D"/>
                </a:solidFill>
                <a:latin typeface="Helvetica"/>
              </a:rPr>
              <a:t>■   </a:t>
            </a:r>
            <a:r>
              <a:rPr sz="1500" b="0">
                <a:solidFill>
                  <a:srgbClr val="122A52"/>
                </a:solidFill>
                <a:latin typeface="Helvetica"/>
              </a:rPr>
              <a:t>Helperen kan genbruges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B8A"/>
                </a:solidFill>
                <a:latin typeface="Helvetica"/>
              </a:rPr>
              <a:t>12 |</a:t>
            </a:r>
          </a:p>
        </p:txBody>
      </p:sp>
      <p:pic>
        <p:nvPicPr>
          <p:cNvPr id="15" name="Picture 14" descr="ed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263640"/>
            <a:ext cx="59436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9144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22A52"/>
                </a:solidFill>
                <a:latin typeface="Helvetica"/>
              </a:rPr>
              <a:t>Vigtigt forbehold</a:t>
            </a:r>
            <a:r>
              <a:rPr sz="3400" b="0">
                <a:solidFill>
                  <a:srgbClr val="122A52"/>
                </a:solidFill>
                <a:latin typeface="Helvetica"/>
              </a:rPr>
              <a:t> | Demoen er lille — virkeligheden er stor</a:t>
            </a:r>
          </a:p>
        </p:txBody>
      </p:sp>
      <p:sp>
        <p:nvSpPr>
          <p:cNvPr id="4" name="5-Point Star 3"/>
          <p:cNvSpPr/>
          <p:nvPr/>
        </p:nvSpPr>
        <p:spPr>
          <a:xfrm>
            <a:off x="731520" y="1920240"/>
            <a:ext cx="822960" cy="822960"/>
          </a:xfrm>
          <a:prstGeom prst="star5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196596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122A52"/>
                </a:solidFill>
                <a:latin typeface="Helvetica"/>
              </a:rPr>
              <a:t>Forskellen ser subtil ud her.</a:t>
            </a:r>
            <a:r>
              <a:rPr sz="2000" b="0">
                <a:solidFill>
                  <a:srgbClr val="122A52"/>
                </a:solidFill>
                <a:latin typeface="Helvetica"/>
              </a:rPr>
              <a:t> På jeres rigtige projekter eksploderer den.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7899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  <a:spcAft>
                <a:spcPts val="1000"/>
              </a:spcAft>
            </a:pPr>
            <a:r>
              <a:rPr sz="1500" b="1">
                <a:solidFill>
                  <a:srgbClr val="122A52"/>
                </a:solidFill>
                <a:latin typeface="Helvetica"/>
              </a:rPr>
              <a:t>■   </a:t>
            </a:r>
            <a:r>
              <a:rPr sz="1500" b="1">
                <a:solidFill>
                  <a:srgbClr val="122A52"/>
                </a:solidFill>
                <a:latin typeface="Helvetica"/>
              </a:rPr>
              <a:t>Her:</a:t>
            </a:r>
            <a:r>
              <a:rPr sz="1500" b="0">
                <a:solidFill>
                  <a:srgbClr val="122A52"/>
                </a:solidFill>
                <a:latin typeface="Helvetica"/>
              </a:rPr>
              <a:t> 5 filer, ét tydeligt symptom, Opus 4.7 — Claude finder *et* fix uanset hvor vag prompten er</a:t>
            </a:r>
          </a:p>
          <a:p>
            <a:pPr algn="l">
              <a:lnSpc>
                <a:spcPct val="160000"/>
              </a:lnSpc>
              <a:spcAft>
                <a:spcPts val="1000"/>
              </a:spcAft>
            </a:pPr>
            <a:r>
              <a:rPr sz="1500" b="1">
                <a:solidFill>
                  <a:srgbClr val="122A52"/>
                </a:solidFill>
                <a:latin typeface="Helvetica"/>
              </a:rPr>
              <a:t>■   </a:t>
            </a:r>
            <a:r>
              <a:rPr sz="1500" b="1">
                <a:solidFill>
                  <a:srgbClr val="122A52"/>
                </a:solidFill>
                <a:latin typeface="Helvetica"/>
              </a:rPr>
              <a:t>På jeres codebases:</a:t>
            </a:r>
            <a:r>
              <a:rPr sz="1500" b="0">
                <a:solidFill>
                  <a:srgbClr val="122A52"/>
                </a:solidFill>
                <a:latin typeface="Helvetica"/>
              </a:rPr>
              <a:t> 100k+ linjer, 10+ års historik, DTO'er, mappere, migrations, uskrevne konventioner</a:t>
            </a:r>
          </a:p>
          <a:p>
            <a:pPr algn="l">
              <a:lnSpc>
                <a:spcPct val="160000"/>
              </a:lnSpc>
              <a:spcAft>
                <a:spcPts val="1000"/>
              </a:spcAft>
            </a:pPr>
            <a:r>
              <a:rPr sz="1500" b="1">
                <a:solidFill>
                  <a:srgbClr val="122A52"/>
                </a:solidFill>
                <a:latin typeface="Helvetica"/>
              </a:rPr>
              <a:t>■   </a:t>
            </a:r>
            <a:r>
              <a:rPr sz="1500" b="1">
                <a:solidFill>
                  <a:srgbClr val="122A52"/>
                </a:solidFill>
                <a:latin typeface="Helvetica"/>
              </a:rPr>
              <a:t>Konsekvens af vag prompt:</a:t>
            </a:r>
            <a:r>
              <a:rPr sz="1500" b="0">
                <a:solidFill>
                  <a:srgbClr val="122A52"/>
                </a:solidFill>
                <a:latin typeface="Helvetica"/>
              </a:rPr>
              <a:t> forkert fil · glemt halvdel af kæden · konfliktende abstraktion · brudt konvention</a:t>
            </a:r>
          </a:p>
          <a:p>
            <a:pPr algn="l">
              <a:lnSpc>
                <a:spcPct val="160000"/>
              </a:lnSpc>
              <a:spcAft>
                <a:spcPts val="1000"/>
              </a:spcAft>
            </a:pPr>
            <a:r>
              <a:rPr sz="1500" b="1">
                <a:solidFill>
                  <a:srgbClr val="122A52"/>
                </a:solidFill>
                <a:latin typeface="Helvetica"/>
              </a:rPr>
              <a:t>■   </a:t>
            </a:r>
            <a:r>
              <a:rPr sz="1500" b="1">
                <a:solidFill>
                  <a:srgbClr val="122A52"/>
                </a:solidFill>
                <a:latin typeface="Helvetica"/>
              </a:rPr>
              <a:t>Vi træner mønsteret HER</a:t>
            </a:r>
            <a:r>
              <a:rPr sz="1500" b="0">
                <a:solidFill>
                  <a:srgbClr val="122A52"/>
                </a:solidFill>
                <a:latin typeface="Helvetica"/>
              </a:rPr>
              <a:t> — så det sidder i fingrene mandag morgen i en rigtig PR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B8A"/>
                </a:solidFill>
                <a:latin typeface="Helvetica"/>
              </a:rPr>
              <a:t>13 |</a:t>
            </a:r>
          </a:p>
        </p:txBody>
      </p:sp>
      <p:pic>
        <p:nvPicPr>
          <p:cNvPr id="10" name="Picture 9" descr="ed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263640"/>
            <a:ext cx="59436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d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327" y="1645920"/>
            <a:ext cx="1463040" cy="146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365760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0">
                <a:solidFill>
                  <a:srgbClr val="F5B81C"/>
                </a:solidFill>
                <a:latin typeface="Menlo"/>
              </a:rPr>
              <a:t>Punkt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29768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Helvetica"/>
              </a:rPr>
              <a:t>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02920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C8D4E8"/>
                </a:solidFill>
                <a:latin typeface="Helvetica"/>
              </a:rPr>
              <a:t>20 minutter · solo på din egen maskine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5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9144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22A52"/>
                </a:solidFill>
                <a:latin typeface="Helvetica"/>
              </a:rPr>
              <a:t>Hands-on</a:t>
            </a:r>
            <a:r>
              <a:rPr sz="3400" b="0">
                <a:solidFill>
                  <a:srgbClr val="122A52"/>
                </a:solidFill>
                <a:latin typeface="Helvetica"/>
              </a:rPr>
              <a:t> | Prøv begge prompt-typer på samme opgave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  <a:spcAft>
                <a:spcPts val="1000"/>
              </a:spcAft>
            </a:pPr>
            <a:r>
              <a:rPr sz="1800" b="1">
                <a:solidFill>
                  <a:srgbClr val="122A52"/>
                </a:solidFill>
                <a:latin typeface="Helvetica"/>
              </a:rPr>
              <a:t>■   </a:t>
            </a:r>
            <a:r>
              <a:rPr sz="1800" b="1">
                <a:solidFill>
                  <a:srgbClr val="122A52"/>
                </a:solidFill>
                <a:latin typeface="Helvetica"/>
              </a:rPr>
              <a:t>git clone</a:t>
            </a:r>
            <a:r>
              <a:rPr sz="1800" b="0">
                <a:solidFill>
                  <a:srgbClr val="122A52"/>
                </a:solidFill>
                <a:latin typeface="Helvetica"/>
              </a:rPr>
              <a:t> + </a:t>
            </a:r>
            <a:r>
              <a:rPr sz="1800" b="1">
                <a:solidFill>
                  <a:srgbClr val="122A52"/>
                </a:solidFill>
                <a:latin typeface="Helvetica"/>
              </a:rPr>
              <a:t>npm install</a:t>
            </a:r>
            <a:r>
              <a:rPr sz="1800" b="0">
                <a:solidFill>
                  <a:srgbClr val="122A52"/>
                </a:solidFill>
                <a:latin typeface="Helvetica"/>
              </a:rPr>
              <a:t> + </a:t>
            </a:r>
            <a:r>
              <a:rPr sz="1800" b="1">
                <a:solidFill>
                  <a:srgbClr val="122A52"/>
                </a:solidFill>
                <a:latin typeface="Helvetica"/>
              </a:rPr>
              <a:t>claude</a:t>
            </a:r>
            <a:r>
              <a:rPr sz="1800" b="0">
                <a:solidFill>
                  <a:srgbClr val="122A52"/>
                </a:solidFill>
                <a:latin typeface="Helvetica"/>
              </a:rPr>
              <a:t> i `demo/`-mappen</a:t>
            </a:r>
          </a:p>
          <a:p>
            <a:pPr algn="l">
              <a:lnSpc>
                <a:spcPct val="160000"/>
              </a:lnSpc>
              <a:spcAft>
                <a:spcPts val="1000"/>
              </a:spcAft>
            </a:pPr>
            <a:r>
              <a:rPr sz="1800" b="1">
                <a:solidFill>
                  <a:srgbClr val="122A52"/>
                </a:solidFill>
                <a:latin typeface="Helvetica"/>
              </a:rPr>
              <a:t>■   </a:t>
            </a:r>
            <a:r>
              <a:rPr sz="1800" b="0">
                <a:solidFill>
                  <a:srgbClr val="122A52"/>
                </a:solidFill>
                <a:latin typeface="Helvetica"/>
              </a:rPr>
              <a:t>Vælg én opgave fra demoen (pris-bug, performance, eller favorit-knap)</a:t>
            </a:r>
          </a:p>
          <a:p>
            <a:pPr algn="l">
              <a:lnSpc>
                <a:spcPct val="160000"/>
              </a:lnSpc>
              <a:spcAft>
                <a:spcPts val="1000"/>
              </a:spcAft>
            </a:pPr>
            <a:r>
              <a:rPr sz="1800" b="1">
                <a:solidFill>
                  <a:srgbClr val="122A52"/>
                </a:solidFill>
                <a:latin typeface="Helvetica"/>
              </a:rPr>
              <a:t>■   </a:t>
            </a:r>
            <a:r>
              <a:rPr sz="1800" b="0">
                <a:solidFill>
                  <a:srgbClr val="122A52"/>
                </a:solidFill>
                <a:latin typeface="Helvetica"/>
              </a:rPr>
              <a:t>Skriv først en </a:t>
            </a:r>
            <a:r>
              <a:rPr sz="1800" b="1">
                <a:solidFill>
                  <a:srgbClr val="122A52"/>
                </a:solidFill>
                <a:latin typeface="Helvetica"/>
              </a:rPr>
              <a:t>hurtig prompt</a:t>
            </a:r>
            <a:r>
              <a:rPr sz="1800" b="0">
                <a:solidFill>
                  <a:srgbClr val="122A52"/>
                </a:solidFill>
                <a:latin typeface="Helvetica"/>
              </a:rPr>
              <a:t> — som du ville skrive på en travl dag</a:t>
            </a:r>
          </a:p>
          <a:p>
            <a:pPr algn="l">
              <a:lnSpc>
                <a:spcPct val="160000"/>
              </a:lnSpc>
              <a:spcAft>
                <a:spcPts val="1000"/>
              </a:spcAft>
            </a:pPr>
            <a:r>
              <a:rPr sz="1800" b="1">
                <a:solidFill>
                  <a:srgbClr val="122A52"/>
                </a:solidFill>
                <a:latin typeface="Helvetica"/>
              </a:rPr>
              <a:t>■   </a:t>
            </a:r>
            <a:r>
              <a:rPr sz="1800" b="1">
                <a:solidFill>
                  <a:srgbClr val="122A52"/>
                </a:solidFill>
                <a:latin typeface="Helvetica"/>
              </a:rPr>
              <a:t>git checkout .</a:t>
            </a:r>
            <a:r>
              <a:rPr sz="1800" b="0">
                <a:solidFill>
                  <a:srgbClr val="122A52"/>
                </a:solidFill>
                <a:latin typeface="Helvetica"/>
              </a:rPr>
              <a:t> og </a:t>
            </a:r>
            <a:r>
              <a:rPr sz="1800" b="1">
                <a:solidFill>
                  <a:srgbClr val="122A52"/>
                </a:solidFill>
                <a:latin typeface="Helvetica"/>
              </a:rPr>
              <a:t>/clear</a:t>
            </a:r>
            <a:r>
              <a:rPr sz="1800" b="0">
                <a:solidFill>
                  <a:srgbClr val="122A52"/>
                </a:solidFill>
                <a:latin typeface="Helvetica"/>
              </a:rPr>
              <a:t> for at rulle tilbage</a:t>
            </a:r>
          </a:p>
          <a:p>
            <a:pPr algn="l">
              <a:lnSpc>
                <a:spcPct val="160000"/>
              </a:lnSpc>
              <a:spcAft>
                <a:spcPts val="1000"/>
              </a:spcAft>
            </a:pPr>
            <a:r>
              <a:rPr sz="1800" b="1">
                <a:solidFill>
                  <a:srgbClr val="122A52"/>
                </a:solidFill>
                <a:latin typeface="Helvetica"/>
              </a:rPr>
              <a:t>■   </a:t>
            </a:r>
            <a:r>
              <a:rPr sz="1800" b="0">
                <a:solidFill>
                  <a:srgbClr val="122A52"/>
                </a:solidFill>
                <a:latin typeface="Helvetica"/>
              </a:rPr>
              <a:t>Skriv så en prompt med </a:t>
            </a:r>
            <a:r>
              <a:rPr sz="1800" b="1">
                <a:solidFill>
                  <a:srgbClr val="122A52"/>
                </a:solidFill>
                <a:latin typeface="Helvetica"/>
              </a:rPr>
              <a:t>alle 4 byggeklodser</a:t>
            </a:r>
          </a:p>
          <a:p>
            <a:pPr algn="l">
              <a:lnSpc>
                <a:spcPct val="160000"/>
              </a:lnSpc>
              <a:spcAft>
                <a:spcPts val="1000"/>
              </a:spcAft>
            </a:pPr>
            <a:r>
              <a:rPr sz="1800" b="1">
                <a:solidFill>
                  <a:srgbClr val="122A52"/>
                </a:solidFill>
                <a:latin typeface="Helvetica"/>
              </a:rPr>
              <a:t>■   </a:t>
            </a:r>
            <a:r>
              <a:rPr sz="1800" b="0">
                <a:solidFill>
                  <a:srgbClr val="122A52"/>
                </a:solidFill>
                <a:latin typeface="Helvetica"/>
              </a:rPr>
              <a:t>Sammenlign: hvad var forskellen? Hvilken ville du committe?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B8A"/>
                </a:solidFill>
                <a:latin typeface="Helvetica"/>
              </a:rPr>
              <a:t>15 |</a:t>
            </a:r>
          </a:p>
        </p:txBody>
      </p:sp>
      <p:pic>
        <p:nvPicPr>
          <p:cNvPr id="8" name="Picture 7" descr="ed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263640"/>
            <a:ext cx="59436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d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207" y="64008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192024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F5B81C"/>
                </a:solidFill>
                <a:latin typeface="Menlo"/>
              </a:rPr>
              <a:t>Hjemmeopgave inden torsdag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46888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Helvetica"/>
              </a:rPr>
              <a:t>Brug Claude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200400"/>
            <a:ext cx="121916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0" i="0">
                <a:solidFill>
                  <a:srgbClr val="C8D4E8"/>
                </a:solidFill>
                <a:latin typeface="Helvetica"/>
              </a:rPr>
              <a:t>på mindst én rigtig opgave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4297680"/>
            <a:ext cx="8531352" cy="1828800"/>
          </a:xfrm>
          <a:prstGeom prst="rect">
            <a:avLst/>
          </a:prstGeom>
          <a:solidFill>
            <a:srgbClr val="1B3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443484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5B81C"/>
                </a:solidFill>
                <a:latin typeface="Menlo"/>
              </a:rPr>
              <a:t>Tag med til torsdag: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4937760"/>
            <a:ext cx="7772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800" b="1">
                <a:solidFill>
                  <a:srgbClr val="F5B81C"/>
                </a:solidFill>
                <a:latin typeface="Helvetica"/>
              </a:rPr>
              <a:t>■   </a:t>
            </a:r>
            <a:r>
              <a:rPr sz="1800" b="0">
                <a:solidFill>
                  <a:srgbClr val="FFFFFF"/>
                </a:solidFill>
                <a:latin typeface="Helvetica"/>
              </a:rPr>
              <a:t>Én prompt der virkede godt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800" b="1">
                <a:solidFill>
                  <a:srgbClr val="F5B81C"/>
                </a:solidFill>
                <a:latin typeface="Helvetica"/>
              </a:rPr>
              <a:t>■   </a:t>
            </a:r>
            <a:r>
              <a:rPr sz="1800" b="0">
                <a:solidFill>
                  <a:srgbClr val="FFFFFF"/>
                </a:solidFill>
                <a:latin typeface="Helvetica"/>
              </a:rPr>
              <a:t>Én der ikke gjorde — vi lærer mest af de fejlede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5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