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Velkomst · 0:00–0:05. Første øjeblik — bare rammesæt. Vent ikke for længe; kom videre.</a:t>
            </a:r>
          </a:p>
          <a:p/>
          <a:p>
            <a:r>
              <a:t>─── SIG ───</a:t>
            </a:r>
          </a:p>
          <a:p>
            <a:r>
              <a:t>"Velkommen. Jeg er Matias, og det her er Michael. Vi er facilitatorer for de næste 5 uger."</a:t>
            </a:r>
          </a:p>
          <a:p/>
          <a:p>
            <a:r>
              <a:t>"Det her er ikke et kursus hvor I lytter til os. Det er en træningslejr hvor I lærer ved at gøre — og fra session 2 også ved at undervise jeres kollegaer."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Hurtigt overblik · 0:05–0:07. Peg på de fremhævede (blå) felter — det er de tre hoveddele. Ingen pause på en time, men det går stærkt.</a:t>
            </a:r>
          </a:p>
          <a:p/>
          <a:p>
            <a:r>
              <a:t>─── SIG ───</a:t>
            </a:r>
          </a:p>
          <a:p>
            <a:r>
              <a:t>"Lige om lidt fortæller jeg lidt om hvordan de næste 5 uger ser ud."</a:t>
            </a:r>
          </a:p>
          <a:p/>
          <a:p>
            <a:r>
              <a:t>"Så går vi i terminalen og laver en live demo."</a:t>
            </a:r>
          </a:p>
          <a:p/>
          <a:p>
            <a:r>
              <a:t>"Og så er det jer der skal kode — solo på jeres egen maskine."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Vigtigste pointe i dag · 0:07–0:10. Hvis de bare lytter, lærer de ingenting. Hvis de underviser hinanden, sidder det fast.</a:t>
            </a:r>
          </a:p>
          <a:p/>
          <a:p>
            <a:r>
              <a:t>─── SIG ───</a:t>
            </a:r>
          </a:p>
          <a:p>
            <a:r>
              <a:t>"Det her er den vigtigste pointe i dag: Michael og jeg er facilitatorer, ikke eksperter."</a:t>
            </a:r>
          </a:p>
          <a:p/>
          <a:p>
            <a:r>
              <a:t>"Jeg ved ikke nødvendigvis mere end jer om Claude Code om 5 uger. Det her er et hold der lærer sammen."</a:t>
            </a:r>
          </a:p>
          <a:p/>
          <a:p>
            <a:r>
              <a:t>"Fra session 2 er det én af jer der præsenterer dagens emne. Vi hjælper med slides ugen før, så ingen står alene med det."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Akavet øjeblik · 0:10–0:13. Stil spørgsmålet og hold mund. Lad stilheden virke. Hvis ingen melder sig efter 10 sek: vælg én du ved godt har lyst — eller én der ser frisk ud.</a:t>
            </a:r>
          </a:p>
          <a:p/>
          <a:p>
            <a:r>
              <a:t>─── SIG ───</a:t>
            </a:r>
          </a:p>
          <a:p>
            <a:r>
              <a:t>"Hvem vil tage session 2 om Plan mode? Det er torsdag, jeg sender slide-skabelon og pre-work-video senest dagen før."</a:t>
            </a:r>
          </a:p>
          <a:p/>
          <a:p>
            <a:r>
              <a:t>[Vent. Tæl til 10 i hovedet.]</a:t>
            </a:r>
          </a:p>
          <a:p/>
          <a:p>
            <a:r>
              <a:t>Hvis ingen melder sig:</a:t>
            </a:r>
          </a:p>
          <a:p>
            <a:r>
              <a:t>"[Navn] — vil du tage den?"</a:t>
            </a:r>
          </a:p>
          <a:p/>
          <a:p>
            <a:r>
              <a:t>─── GØR ───</a:t>
            </a:r>
          </a:p>
          <a:p>
            <a:r>
              <a:t>Når én melder sig: TAK højt. Det sætter normen for resten af forløbet.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Saml i ÉN sætning · 0:13–0:15. Sig den langsomt. Det er hele dagen i én linje.</a:t>
            </a:r>
          </a:p>
          <a:p/>
          <a:p>
            <a:r>
              <a:t>─── SIG ───</a:t>
            </a:r>
          </a:p>
          <a:p>
            <a:r>
              <a:t>"En dårlig prompt giver generisk kode."</a:t>
            </a:r>
          </a:p>
          <a:p/>
          <a:p>
            <a:r>
              <a:t>"En god prompt giver produktionsklar kode."</a:t>
            </a:r>
          </a:p>
          <a:p/>
          <a:p>
            <a:r>
              <a:t>"Forskellen er hvor præcist du beskriver opgaven for Claude. Det er det vi træner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Mønsteret · 0:15–0:18. Det her skal de kunne udenad efter session 1. Læs dem op én af gangen og giv et lille eksempel for hver. Vigtigt: BEGRÆNSNINGER er markeret "når relevant" — det er ikke nødvendigt for hver prompt (fx ikke for "forklar denne fil"), men ved kode-ændringer er det guld værd.</a:t>
            </a:r>
          </a:p>
          <a:p/>
          <a:p>
            <a:r>
              <a:t>─── SIG ───</a:t>
            </a:r>
          </a:p>
          <a:p>
            <a:r>
              <a:t>"Tænk i fire dele når du skriver en prompt:"</a:t>
            </a:r>
          </a:p>
          <a:p/>
          <a:p>
            <a:r>
              <a:t>"1. Kontekst — fx: 'Læs lib/propertyService.ts og components/PropertyCard.tsx'."</a:t>
            </a:r>
          </a:p>
          <a:p/>
          <a:p>
            <a:r>
              <a:t>"2. Opgave — konkret, fx: 'Lav en formatPrice-helper og brug den i begge filer'. Ikke 'der er noget med priserne...'."</a:t>
            </a:r>
          </a:p>
          <a:p/>
          <a:p>
            <a:r>
              <a:t>"3. Begrænsninger — når relevant. Fx: 'Rør intet andet. Ingen commit.' Hvis du bare vil have Claude til at forklare en fil, kan du droppe det her."</a:t>
            </a:r>
          </a:p>
          <a:p/>
          <a:p>
            <a:r>
              <a:t>"4. Forventet output — fx: 'Priser vises som 8.500.000 kr. alle 3 steder.'"</a:t>
            </a:r>
          </a:p>
          <a:p/>
          <a:p>
            <a:r>
              <a:t>"Vi vender tilbage til mønsteret hver eneste session de næste 5 uger."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Tryghed fra dag 1 · 0:18–0:20. Vi går i dybden i session 3, men de skal vide om det FRA i dag. Pointe: hvis de aldrig kan rulle tilbage, tør de aldrig prøve noget nyt.</a:t>
            </a:r>
          </a:p>
          <a:p/>
          <a:p>
            <a:r>
              <a:t>─── SIG ───</a:t>
            </a:r>
          </a:p>
          <a:p>
            <a:r>
              <a:t>"Når Claude laver noget I fortryder — eller koden går i sort — så tryk Esc to gange."</a:t>
            </a:r>
          </a:p>
          <a:p/>
          <a:p>
            <a:r>
              <a:t>"Der kommer en menu hvor I kan rulle tilbage til ethvert tidligere punkt i samtalen. Filerne, conversation, eller begge dele."</a:t>
            </a:r>
          </a:p>
          <a:p/>
          <a:p>
            <a:r>
              <a:t>"Det er det her der gør det trygt at lade Claude prøve noget vildt."</a:t>
            </a:r>
          </a:p>
          <a:p/>
          <a:p>
            <a:r>
              <a:t>"I må gerne bruge det fra første prompt I skriver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Skift til DIN skærm · 0:15–0:35 (ca. 20 min). Slidet med /prompts står på projektoren mens du kører hele demoen på din egen skærm (terminal + /demo).</a:t>
            </a:r>
          </a:p>
          <a:p/>
          <a:p>
            <a:r>
              <a:t>TJEKLISTE FØR DU SKIFTER:</a:t>
            </a:r>
          </a:p>
          <a:p>
            <a:r>
              <a:t>  □ git status er clean</a:t>
            </a:r>
          </a:p>
          <a:p>
            <a:r>
              <a:t>  □ /demo er åben i browseren med USD-priser synlige</a:t>
            </a:r>
          </a:p>
          <a:p>
            <a:r>
              <a:t>  □ /prompts er åben i en anden tab — det er der du kopierer prompts fra</a:t>
            </a:r>
          </a:p>
          <a:p>
            <a:r>
              <a:t>  □ claude --dangerously-skip-permissions kører i demo/-mappen</a:t>
            </a:r>
          </a:p>
          <a:p/>
          <a:p>
            <a:r>
              <a:t>─── SIG ───</a:t>
            </a:r>
          </a:p>
          <a:p>
            <a:r>
              <a:t>"Nu deler jeg min skærm. I ser min terminal og /demo i browseren."</a:t>
            </a:r>
          </a:p>
          <a:p/>
          <a:p>
            <a:r>
              <a:t>"Jeg har en /prompts-side åben hvor jeg kopierer prompts fra. Jeg gør det i denne rækkefølge:"</a:t>
            </a:r>
          </a:p>
          <a:p/>
          <a:p>
            <a:r>
              <a:t>"1) Vis bug'en — scroll ned ad /demo, klik på en bolig, søg demo@edc.dk i favoritter."</a:t>
            </a:r>
          </a:p>
          <a:p/>
          <a:p>
            <a:r>
              <a:t>"2) Kør den DÅRLIGE prompt — kopier fra /prompts, paste i Claude."</a:t>
            </a:r>
          </a:p>
          <a:p/>
          <a:p>
            <a:r>
              <a:t>"3) git checkout . + /clear for at rulle tilbage."</a:t>
            </a:r>
          </a:p>
          <a:p/>
          <a:p>
            <a:r>
              <a:t>"4) Kør den GODE prompt — samme opgave, men nu med kontekst."</a:t>
            </a:r>
          </a:p>
          <a:p/>
          <a:p>
            <a:r>
              <a:t>"Kig med på begge ændringer — vi samler op bagefter."</a:t>
            </a:r>
          </a:p>
          <a:p/>
          <a:p>
            <a:r>
              <a:t>─── GØR (mellem prompts) ───</a:t>
            </a:r>
          </a:p>
          <a:p>
            <a:r>
              <a:t>Refresh /demo i browseren mellem hver kørsel så de ser hvad der sker visuelt.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Sig det højt · 0:31–0:33. Det her er momentet hvor du SKAL sige det højt — ikke bare lade slidet tale. Det er hele dagen i én sætning.</a:t>
            </a:r>
          </a:p>
          <a:p/>
          <a:p>
            <a:r>
              <a:t>─── SIG ───</a:t>
            </a:r>
          </a:p>
          <a:p>
            <a:r>
              <a:t>"Begge fixes virker visuelt — kr. står overalt. Men kig på koden:"</a:t>
            </a:r>
          </a:p>
          <a:p/>
          <a:p>
            <a:r>
              <a:t>"Den dårlige duplikerede logikken 3 steder."</a:t>
            </a:r>
          </a:p>
          <a:p/>
          <a:p>
            <a:r>
              <a:t>"Den gode lavede én helper, brugt 3 steder."</a:t>
            </a:r>
          </a:p>
          <a:p/>
          <a:p>
            <a:r>
              <a:t>"Om 3 måneder, når en designer beder om at vise øre i favorit-listen, er det den forskel der bestemmer om I bruger 5 minutter eller 30."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Forsikring · 0:33–0:35. Det her slide er forsikring mod den deltager der siger "jamen den dårlige fungerede jo fint". Anerkend det direkte — det er ærligt.</a:t>
            </a:r>
          </a:p>
          <a:p/>
          <a:p>
            <a:r>
              <a:t>─── SIG ───</a:t>
            </a:r>
          </a:p>
          <a:p>
            <a:r>
              <a:t>"I har ret. På denne lille demo med Opus 4.7 er forskellen subtil — Claude er smart nok til at finde et fix der virker, selv når prompten er vag."</a:t>
            </a:r>
          </a:p>
          <a:p/>
          <a:p>
            <a:r>
              <a:t>"Men i jeres rigtige projekter — 100k+ linjer, DTO'er, mappere, migrations, konventioner der ikke er skrevet ned — eksploderer det."</a:t>
            </a:r>
          </a:p>
          <a:p/>
          <a:p>
            <a:r>
              <a:t>"En vag prompt rammer den forkerte fil, glemmer halvdelen af kæden, eller introducerer et abstraktionslag der konflikter med jeres eksisterende."</a:t>
            </a:r>
          </a:p>
          <a:p/>
          <a:p>
            <a:r>
              <a:t>"Vi træner mønsteret her hvor det er sikkert at fejle — så det sidder i fingrene når I er midt i en rigtig PR mandag morgen."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Hands-on (0:35–0:55) + afslutning (0:55–1:00). Slidet bliver siddende mens deltagerne arbejder. Du forklarer hands-on verbalt, går rundt, samler op, og runder af — alt sammen uden at skifte slide.</a:t>
            </a:r>
          </a:p>
          <a:p/>
          <a:p>
            <a:r>
              <a:t>─── SIG (start hands-on, 0:35) ───</a:t>
            </a:r>
          </a:p>
          <a:p>
            <a:r>
              <a:t>"Nu jer. Solo på din egen maskine — du skal selv mærke forskellen i fingrene. I har 20 minutter."</a:t>
            </a:r>
          </a:p>
          <a:p/>
          <a:p>
            <a:r>
              <a:t>"Kør git clone fra README'en, npm install, og claude i demo-mappen. Vælg én opgave fra demoen — pris-bug, performance, eller favorit-knap."</a:t>
            </a:r>
          </a:p>
          <a:p/>
          <a:p>
            <a:r>
              <a:t>"Skriv først en hurtig prompt som I ville skrive på en travl dag. Så git checkout og /clear for at rulle tilbage. Så samme opgave med alle 4 byggeklodser."</a:t>
            </a:r>
          </a:p>
          <a:p/>
          <a:p>
            <a:r>
              <a:t>"Hvis du sidder fast, ræk hånden op — vi går rundt."</a:t>
            </a:r>
          </a:p>
          <a:p/>
          <a:p>
            <a:r>
              <a:t>─── GØR (mens de arbejder) ───</a:t>
            </a:r>
          </a:p>
          <a:p>
            <a:r>
              <a:t>Gå rundt. Hjælp dem der sidder fast. Lyt efter en god 'aha'-bemærkning du kan bede dem dele bagefter.</a:t>
            </a:r>
          </a:p>
          <a:p/>
          <a:p>
            <a:r>
              <a:t>─── SIG (med 5 min tilbage, ~0:50) ───</a:t>
            </a:r>
          </a:p>
          <a:p>
            <a:r>
              <a:t>"Saml jer — én indsigt højt fra hver. Den der overraskede jer mest."</a:t>
            </a:r>
          </a:p>
          <a:p/>
          <a:p>
            <a:r>
              <a:t>─── SIG (afslutning, 0:55) ───</a:t>
            </a:r>
          </a:p>
          <a:p>
            <a:r>
              <a:t>"Hjemmeopgaven er nem: brug Claude Code på mindst én rigtig opgave inden torsdag — i et af jeres rigtige projekter, ikke demoen."</a:t>
            </a:r>
          </a:p>
          <a:p/>
          <a:p>
            <a:r>
              <a:t>"Tag to prompts med til torsdag: én der virkede godt, og én der ikke gjorde. Vi starter session 2 med at dele dem."</a:t>
            </a:r>
          </a:p>
          <a:p/>
          <a:p>
            <a:r>
              <a:t>"[Navn] tager session 2 om Plan mode. Jeg sender slide-skabelon og pre-work-video senest dagen før."</a:t>
            </a:r>
          </a:p>
          <a:p/>
          <a:p>
            <a:r>
              <a:t>"Tak for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Gode vs. dårlige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Kickoff og fundamentet · EDC ×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22A52"/>
                </a:solidFill>
                <a:latin typeface="Helvetica"/>
              </a:rPr>
              <a:t>Dagsorden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429768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0:00–0:05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201168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Velkomst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87752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0:05–0:15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2587752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Foredrag — sådan kører de næste 5 uger + vælg næste præsentant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63824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0:15–0:35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163824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Live demo — samme opgave, dårlig vs. god 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39896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0:35–0:55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3739896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Hands-on — solo på din egen maskine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315968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0:55–1:00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4315968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Del indsigter + take-home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2 |</a:t>
            </a:r>
          </a:p>
        </p:txBody>
      </p:sp>
      <p:pic>
        <p:nvPicPr>
          <p:cNvPr id="18" name="Picture 1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Vores rolle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Facilitatorer, ikke eksperter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4884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Vi er facilitatorer hele forløbet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69748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Michael og jeg står for </a:t>
            </a:r>
            <a:r>
              <a:rPr sz="1600" b="1">
                <a:solidFill>
                  <a:srgbClr val="122A52"/>
                </a:solidFill>
                <a:latin typeface="Helvetica"/>
              </a:rPr>
              <a:t>selve faciliteringen</a:t>
            </a:r>
            <a:r>
              <a:rPr sz="1600" b="0">
                <a:solidFill>
                  <a:srgbClr val="122A52"/>
                </a:solidFill>
                <a:latin typeface="Helvetica"/>
              </a:rPr>
              <a:t> alle 5 uger. Vi er her for at gøre det trygt og holde tråden — det her er et hold der lærer sammen.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466344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34340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I underviser hinanden fra session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89204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Fra session 2 er det </a:t>
            </a:r>
            <a:r>
              <a:rPr sz="1600" b="1">
                <a:solidFill>
                  <a:srgbClr val="122A52"/>
                </a:solidFill>
                <a:latin typeface="Helvetica"/>
              </a:rPr>
              <a:t>én deltager fra holdet</a:t>
            </a:r>
            <a:r>
              <a:rPr sz="1600" b="0">
                <a:solidFill>
                  <a:srgbClr val="122A52"/>
                </a:solidFill>
                <a:latin typeface="Helvetica"/>
              </a:rPr>
              <a:t> der præsenterer dagens emne. Vi hjælper med slides ugen før, så ingen står alene med det. </a:t>
            </a:r>
            <a:r>
              <a:rPr sz="1600" b="1">
                <a:solidFill>
                  <a:srgbClr val="122A52"/>
                </a:solidFill>
                <a:latin typeface="Helvetica"/>
              </a:rPr>
              <a:t>Pointe:</a:t>
            </a:r>
            <a:r>
              <a:rPr sz="1600" b="0">
                <a:solidFill>
                  <a:srgbClr val="122A52"/>
                </a:solidFill>
                <a:latin typeface="Helvetica"/>
              </a:rPr>
              <a:t> I lærer det bedst ved at undervise det.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3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Nu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Vælg næste præsentant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14400" y="2377440"/>
            <a:ext cx="1005840" cy="1005840"/>
          </a:xfrm>
          <a:prstGeom prst="star5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2286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B81C"/>
                </a:solidFill>
                <a:latin typeface="Menlo"/>
              </a:rPr>
              <a:t>Hvem vil tage session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22A52"/>
                </a:solidFill>
                <a:latin typeface="Helvetica"/>
              </a:rPr>
              <a:t>Plan mode vs. ikke plan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2461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56B8A"/>
                </a:solidFill>
                <a:latin typeface="Helvetica"/>
              </a:rPr>
              <a:t>Torsdag · uge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93192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22A52"/>
                </a:solidFill>
                <a:latin typeface="Helvetica"/>
              </a:rPr>
              <a:t>Jeg sender slide-skabelon og pre-work-video </a:t>
            </a:r>
            <a:r>
              <a:rPr sz="1500" b="1">
                <a:solidFill>
                  <a:srgbClr val="122A52"/>
                </a:solidFill>
                <a:latin typeface="Helvetica"/>
              </a:rPr>
              <a:t>senest dagen før</a:t>
            </a:r>
            <a:r>
              <a:rPr sz="1500" b="0">
                <a:solidFill>
                  <a:srgbClr val="122A52"/>
                </a:solidFill>
                <a:latin typeface="Helvetica"/>
              </a:rPr>
              <a:t>, så du står ikke alene med det. Hvis ingen melder sig, vælger vi én — og vi gentager øvelsen i starten af hver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4 |</a:t>
            </a:r>
          </a:p>
        </p:txBody>
      </p:sp>
      <p:pic>
        <p:nvPicPr>
          <p:cNvPr id="13" name="Picture 1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Dagens kerne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prompt er 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556B8A"/>
                </a:solidFill>
                <a:latin typeface="Helvetica"/>
              </a:rPr>
              <a:t>En dårlig prompt giver generisk kode.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22A52"/>
                </a:solidFill>
                <a:latin typeface="Helvetica"/>
              </a:rPr>
              <a:t>En god prompt giver produktionsklar kode.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122A52"/>
                </a:solidFill>
                <a:latin typeface="Helvetica"/>
              </a:rPr>
              <a:t>Forskellen er hvor præcist du beskriver opgaven.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5 |</a:t>
            </a:r>
          </a:p>
        </p:txBody>
      </p:sp>
      <p:pic>
        <p:nvPicPr>
          <p:cNvPr id="11" name="Picture 10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De 4 byggeklodser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Tænk i fire dele når du skriver en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Hvilke filer skal
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76472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vil du have
gjort? Fx "Lav en
helper", "Tilføj knap".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92824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98664" y="25146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2A52"/>
                </a:solidFill>
                <a:latin typeface="Helvetica"/>
              </a:rPr>
              <a:t>Når relevant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43416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09176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56B8A"/>
                </a:solidFill>
                <a:latin typeface="Menlo"/>
              </a:rPr>
              <a:t>[Kontekst] + [Opgave] + [Begrænsninger] + [Forventet output]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6 |</a:t>
            </a:r>
          </a:p>
        </p:txBody>
      </p:sp>
      <p:pic>
        <p:nvPicPr>
          <p:cNvPr id="25" name="Picture 2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Tryghed fra start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Esc · Esc — undo for hele sessionen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4114800" cy="2286000"/>
          </a:xfrm>
          <a:prstGeom prst="roundRect">
            <a:avLst>
              <a:gd name="adj" fmla="val 8000"/>
            </a:avLst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Menlo"/>
              </a:rPr>
              <a:t>Esc · 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03120"/>
            <a:ext cx="6583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Tryk </a:t>
            </a:r>
            <a:r>
              <a:rPr sz="1800" b="1">
                <a:solidFill>
                  <a:srgbClr val="122A52"/>
                </a:solidFill>
                <a:latin typeface="Helvetica"/>
              </a:rPr>
              <a:t>Esc</a:t>
            </a:r>
            <a:r>
              <a:rPr sz="1800" b="0">
                <a:solidFill>
                  <a:srgbClr val="122A52"/>
                </a:solidFill>
                <a:latin typeface="Helvetica"/>
              </a:rPr>
              <a:t> to gange → rewind-menu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et tidligere step → filerne ruller tilbage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Vi går i dybden i </a:t>
            </a:r>
            <a:r>
              <a:rPr sz="1800" b="1">
                <a:solidFill>
                  <a:srgbClr val="122A52"/>
                </a:solidFill>
                <a:latin typeface="Helvetica"/>
              </a:rPr>
              <a:t>session 3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men brug det fra dag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754880"/>
            <a:ext cx="11091672" cy="11887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22A52"/>
                </a:solidFill>
                <a:latin typeface="Helvetica"/>
              </a:rPr>
              <a:t>Det er det her der gør det </a:t>
            </a:r>
            <a:r>
              <a:rPr sz="1800" b="1">
                <a:solidFill>
                  <a:srgbClr val="122A52"/>
                </a:solidFill>
                <a:latin typeface="Helvetica"/>
              </a:rPr>
              <a:t>trygt</a:t>
            </a:r>
            <a:r>
              <a:rPr sz="1800" b="0">
                <a:solidFill>
                  <a:srgbClr val="122A52"/>
                </a:solidFill>
                <a:latin typeface="Helvetica"/>
              </a:rPr>
              <a:t> at lade Claude prøve noget vildt. Hvis I aldrig kan rulle tilbage, tør I aldrig prøve noget nyt.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7 |</a:t>
            </a:r>
          </a:p>
        </p:txBody>
      </p:sp>
      <p:pic>
        <p:nvPicPr>
          <p:cNvPr id="12" name="Picture 11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Samme opgave — dårlig prompt vs. god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Pointen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Begge fixes virker visuelt — kun den ene efterlader sund kode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349240" cy="365760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DÅRLIG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3 inline-kopier af samme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DRY brudt — ændring kræver 3 filer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Forskelligt resultat hver kørsel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Nogle gange ufuldstændig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011680"/>
            <a:ext cx="5349240" cy="365760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GOD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1 helper, brugt 3 steder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Ét sted at ændre fremover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Deterministisk — samme resultat hver gang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Helperen kan genbruges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9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Vigtigt forbehold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Demoen er lille — virkeligheden er stor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1920240"/>
            <a:ext cx="822960" cy="822960"/>
          </a:xfrm>
          <a:prstGeom prst="star5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19659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22A52"/>
                </a:solidFill>
                <a:latin typeface="Helvetica"/>
              </a:rPr>
              <a:t>Forskellen ser subtil ud her.</a:t>
            </a:r>
            <a:r>
              <a:rPr sz="2000" b="0">
                <a:solidFill>
                  <a:srgbClr val="122A52"/>
                </a:solidFill>
                <a:latin typeface="Helvetica"/>
              </a:rPr>
              <a:t> På jeres rigtige projekter eksploderer 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789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Her:</a:t>
            </a:r>
            <a:r>
              <a:rPr sz="1600" b="0">
                <a:solidFill>
                  <a:srgbClr val="122A52"/>
                </a:solidFill>
                <a:latin typeface="Helvetica"/>
              </a:rPr>
              <a:t> 5 filer, ét tydeligt symptom, Opus 4.7 — Claude finder *et* fix uanset hvor vag prompten er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På jeres codebases:</a:t>
            </a:r>
            <a:r>
              <a:rPr sz="1600" b="0">
                <a:solidFill>
                  <a:srgbClr val="122A52"/>
                </a:solidFill>
                <a:latin typeface="Helvetica"/>
              </a:rPr>
              <a:t> 100k+ linjer, 10+ års historik, DTO'er, mappere, migrations, uskrevne konventioner</a:t>
            </a:r>
          </a:p>
          <a:p>
            <a:pPr algn="l">
              <a:lnSpc>
                <a:spcPct val="17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1">
                <a:solidFill>
                  <a:srgbClr val="122A52"/>
                </a:solidFill>
                <a:latin typeface="Helvetica"/>
              </a:rPr>
              <a:t>Konsekvens af vag prompt:</a:t>
            </a:r>
            <a:r>
              <a:rPr sz="1600" b="0">
                <a:solidFill>
                  <a:srgbClr val="122A52"/>
                </a:solidFill>
                <a:latin typeface="Helvetica"/>
              </a:rPr>
              <a:t> forkert fil · glemt halvdel af kæden · konfliktende abstraktion · brudt konvention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10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27" y="164592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Hands-on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20 minutter · solo på din egen maskine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