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/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/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Ingen pause på en time, men det går stærkt.</a:t>
            </a:r>
          </a:p>
          <a:p/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/>
          <a:p>
            <a:r>
              <a:t>"Så går vi i terminalen og laver en live demo."</a:t>
            </a:r>
          </a:p>
          <a:p/>
          <a:p>
            <a:r>
              <a:t>"Og så er det jer der skal kode — solo på jeres egen maskine."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/>
          <a:p>
            <a:r>
              <a:t>─── SIG ───</a:t>
            </a:r>
          </a:p>
          <a:p>
            <a:r>
              <a:t>"Det her er den vigtigste pointe i dag: Michael og jeg er facilitatorer, ikke eksperter."</a:t>
            </a:r>
          </a:p>
          <a:p/>
          <a:p>
            <a:r>
              <a:t>"Jeg ved ikke nødvendigvis mere end jer om Claude Code om 5 uger. Det her er et hold der lærer sammen."</a:t>
            </a:r>
          </a:p>
          <a:p/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/>
          <a:p>
            <a:r>
              <a:t>─── SIG ───</a:t>
            </a:r>
          </a:p>
          <a:p>
            <a:r>
              <a:t>"Hvem vil tage session 2 om Plan mode? Det er torsdag, jeg sender slide-skabelon og pre-work-video senest dagen før."</a:t>
            </a:r>
          </a:p>
          <a:p/>
          <a:p>
            <a:r>
              <a:t>[Vent. Tæl til 10 i hovedet.]</a:t>
            </a:r>
          </a:p>
          <a:p/>
          <a:p>
            <a:r>
              <a:t>Hvis ingen melder sig:</a:t>
            </a:r>
          </a:p>
          <a:p>
            <a:r>
              <a:t>"[Navn] — vil du tage den?"</a:t>
            </a:r>
          </a:p>
          <a:p/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 tre linjer langsomt. Den sidste — "den første prompt er den vigtigste" — er nøgle-pointen: når Claude først er i gang med en svag retning, er det svært at rette kursen. Bedre at bruge 30 sek ekstra på prompten end 10 min på at rydde op.</a:t>
            </a:r>
          </a:p>
          <a:p/>
          <a:p>
            <a:r>
              <a:t>─── SIG ───</a:t>
            </a:r>
          </a:p>
          <a:p>
            <a:r>
              <a:t>"En dårlig prompt giver generisk kode."</a:t>
            </a:r>
          </a:p>
          <a:p/>
          <a:p>
            <a:r>
              <a:t>"En god prompt giver produktionsklar kode."</a:t>
            </a:r>
          </a:p>
          <a:p/>
          <a:p>
            <a:r>
              <a:t>"Forskellen er hvor præcist du beskriver opgaven for Claude."</a:t>
            </a:r>
          </a:p>
          <a:p/>
          <a:p>
            <a:r>
              <a:t>[Pause. Peg på det navy-felt nederst.]</a:t>
            </a:r>
          </a:p>
          <a:p/>
          <a:p>
            <a:r>
              <a:t>"Og den vigtigste prompt er den første. Når Claude er i gang i en forkert retning, er det svært at rette kursen. Bedre at bruge 30 sekunder ekstra på den første prompt end 10 minutter på at rydde op bagefter."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 Vigtigt: BEGRÆNSNINGER er markeret "når relevant" — det er ikke nødvendigt for hver prompt (fx ikke for "forklar denne fil"), men ved kode-ændringer er det guld værd.</a:t>
            </a:r>
          </a:p>
          <a:p/>
          <a:p>
            <a:r>
              <a:t>─── SIG ───</a:t>
            </a:r>
          </a:p>
          <a:p>
            <a:r>
              <a:t>"Tænk i fire dele når du skriver en prompt:"</a:t>
            </a:r>
          </a:p>
          <a:p/>
          <a:p>
            <a:r>
              <a:t>"1. Kontekst — fx: 'Læs lib/propertyService.ts og components/PropertyCard.tsx'."</a:t>
            </a:r>
          </a:p>
          <a:p/>
          <a:p>
            <a:r>
              <a:t>"2. Opgave — konkret, fx: 'Lav en formatPrice-helper og brug den i begge filer'. Ikke 'der er noget med priserne...'."</a:t>
            </a:r>
          </a:p>
          <a:p/>
          <a:p>
            <a:r>
              <a:t>"3. Begrænsninger — når relevant. Fx: 'Rør intet andet. Ingen commit.' Hvis du bare vil have Claude til at forklare en fil, kan du droppe det her."</a:t>
            </a:r>
          </a:p>
          <a:p/>
          <a:p>
            <a:r>
              <a:t>"4. Forventet output — fx: 'Priser vises som 8.500.000 kr. alle 3 steder.'"</a:t>
            </a:r>
          </a:p>
          <a:p/>
          <a:p>
            <a:r>
              <a:t>"Vi vender tilbage til mønsteret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/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/>
          <a:p>
            <a:r>
              <a:t>"Der kommer en menu hvor I kan rulle tilbage til ethvert tidligere punkt i samtalen. Filerne, conversation, eller begge dele."</a:t>
            </a:r>
          </a:p>
          <a:p/>
          <a:p>
            <a:r>
              <a:t>"Det er det her der gør det trygt at lade Claude prøve noget vildt."</a:t>
            </a:r>
          </a:p>
          <a:p/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DIN skærm · 0:15–0:35 (ca. 20 min). Slidet med /prompts står på projektoren mens du kører hele demoen på din egen skærm (terminal + /demo).</a:t>
            </a:r>
          </a:p>
          <a:p/>
          <a:p>
            <a:r>
              <a:t>TJEKLISTE FØR DU SKIFTER: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/prompts er åben i en anden tab — det er der du kopierer prompts fra</a:t>
            </a:r>
          </a:p>
          <a:p>
            <a:r>
              <a:t>  □ claude --dangerously-skip-permissions kører i demo/-mappen</a:t>
            </a:r>
          </a:p>
          <a:p/>
          <a:p>
            <a:r>
              <a:t>─── SIG ───</a:t>
            </a:r>
          </a:p>
          <a:p>
            <a:r>
              <a:t>"Nu deler jeg min skærm. I ser min terminal og /demo i browseren."</a:t>
            </a:r>
          </a:p>
          <a:p/>
          <a:p>
            <a:r>
              <a:t>"Jeg har en /prompts-side åben hvor jeg kopierer prompts fra. Jeg gør det i denne rækkefølge:"</a:t>
            </a:r>
          </a:p>
          <a:p/>
          <a:p>
            <a:r>
              <a:t>"1) Vis bug'en — scroll ned ad /demo, klik på en bolig, søg demo@edc.dk i favoritter."</a:t>
            </a:r>
          </a:p>
          <a:p/>
          <a:p>
            <a:r>
              <a:t>"2) Kør den DÅRLIGE prompt — kopier fra /prompts, paste i Claude."</a:t>
            </a:r>
          </a:p>
          <a:p/>
          <a:p>
            <a:r>
              <a:t>"3) git checkout . + /clear for at rulle tilbage."</a:t>
            </a:r>
          </a:p>
          <a:p/>
          <a:p>
            <a:r>
              <a:t>"4) Kør den GODE prompt — samme opgave, men nu med kontekst."</a:t>
            </a:r>
          </a:p>
          <a:p/>
          <a:p>
            <a:r>
              <a:t>"Kig med på begge ændringer — vi samler op bagefter."</a:t>
            </a:r>
          </a:p>
          <a:p/>
          <a:p>
            <a:r>
              <a:t>─── GØR (mellem prompts) ───</a:t>
            </a:r>
          </a:p>
          <a:p>
            <a:r>
              <a:t>Refresh /demo i browseren mellem hver kørsel så de ser hvad der sker visuelt.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/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/>
          <a:p>
            <a:r>
              <a:t>"Den dårlige duplikerede logikken 3 steder."</a:t>
            </a:r>
          </a:p>
          <a:p/>
          <a:p>
            <a:r>
              <a:t>"Den gode lavede én helper, brugt 3 steder."</a:t>
            </a:r>
          </a:p>
          <a:p/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/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/>
          <a:p>
            <a:r>
              <a:t>"Men i jeres rigtige projekter — 100k+ linjer, DTO'er, mappere, migrations, konventioner der ikke er skrevet ned — eksploderer det."</a:t>
            </a:r>
          </a:p>
          <a:p/>
          <a:p>
            <a:r>
              <a:t>"En vag prompt rammer den forkerte fil, glemmer halvdelen af kæden, eller introducerer et abstraktionslag der konflikter med jeres eksisterende."</a:t>
            </a:r>
          </a:p>
          <a:p/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Hands-on (0:35–0:55) + afslutning (0:55–1:00). Slidet bliver siddende mens deltagerne arbejder. Du forklarer hands-on verbalt, går rundt, samler op, og runder af — alt sammen uden at skifte slide.</a:t>
            </a:r>
          </a:p>
          <a:p/>
          <a:p>
            <a:r>
              <a:t>─── SIG (start hands-on, 0:35) ───</a:t>
            </a:r>
          </a:p>
          <a:p>
            <a:r>
              <a:t>"Nu jer. Solo på din egen maskine — du skal selv mærke forskellen i fingrene. I har 20 minutter."</a:t>
            </a:r>
          </a:p>
          <a:p/>
          <a:p>
            <a:r>
              <a:t>"Kør git clone fra README'en, npm install, og claude i demo-mappen. Vælg én opgave fra demoen — pris-bug, performance, eller favorit-knap."</a:t>
            </a:r>
          </a:p>
          <a:p/>
          <a:p>
            <a:r>
              <a:t>"Skriv først en hurtig prompt som I ville skrive på en travl dag. Så git checkout og /clear for at rulle tilbage. Så samme opgave med alle 4 byggeklodser."</a:t>
            </a:r>
          </a:p>
          <a:p/>
          <a:p>
            <a:r>
              <a:t>"Hvis du sidder fast, ræk hånden op — vi går rundt."</a:t>
            </a:r>
          </a:p>
          <a:p/>
          <a:p>
            <a:r>
              <a:t>─── GØR (mens de arbejder) ───</a:t>
            </a:r>
          </a:p>
          <a:p>
            <a:r>
              <a:t>Gå rundt. Hjælp dem der sidder fast. Lyt efter en god 'aha'-bemærkning du kan bede dem dele bagefter.</a:t>
            </a:r>
          </a:p>
          <a:p/>
          <a:p>
            <a:r>
              <a:t>─── SIG (med 5 min tilbage, ~0:50) ───</a:t>
            </a:r>
          </a:p>
          <a:p>
            <a:r>
              <a:t>"Saml jer — én indsigt højt fra hver. Den der overraskede jer mest."</a:t>
            </a:r>
          </a:p>
          <a:p/>
          <a:p>
            <a:r>
              <a:t>─── SIG (afslutning, 0:55) ───</a:t>
            </a:r>
          </a:p>
          <a:p>
            <a:r>
              <a:t>"Hjemmeopgaven er nem: brug Claude Code på mindst én rigtig opgave inden torsdag — i et af jeres rigtige projekter, ikke demoen."</a:t>
            </a:r>
          </a:p>
          <a:p/>
          <a:p>
            <a:r>
              <a:t>"Tag to prompts med til torsdag: én der virkede godt, og én der ikke gjorde. Vi starter session 2 med at dele dem."</a:t>
            </a:r>
          </a:p>
          <a:p/>
          <a:p>
            <a:r>
              <a:t>"[Navn] tager session 2 om Plan mode. Jeg sender slide-skabelon og pre-work-video senest dagen før."</a:t>
            </a:r>
          </a:p>
          <a:p/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media" Target="../media/media1.mp3"/><Relationship Id="rId5" Type="http://schemas.openxmlformats.org/officeDocument/2006/relationships/video" Target="../media/media1.mp3"/><Relationship Id="rId6" Type="http://schemas.openxmlformats.org/officeDocument/2006/relationships/image" Target="../media/image3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657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77724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691640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C8D4E8"/>
                </a:solidFill>
                <a:latin typeface="Helvetica"/>
              </a:rPr>
              <a:t>Mens I finder pladser — lidt Claude IRL</a:t>
            </a:r>
          </a:p>
        </p:txBody>
      </p:sp>
      <p:pic>
        <p:nvPicPr>
          <p:cNvPr id="6" name="Picture 5" descr="claude_a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2286000"/>
            <a:ext cx="10972800" cy="235915"/>
          </a:xfrm>
          <a:prstGeom prst="rect">
            <a:avLst/>
          </a:prstGeom>
        </p:spPr>
      </p:pic>
      <p:pic>
        <p:nvPicPr>
          <p:cNvPr id="7" name="Picture 6" descr="claude_bug_fi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087" y="2651760"/>
            <a:ext cx="3017520" cy="3995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music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365760" cy="365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indefinite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  <p:nextCondLst>
                      <p:cond evt="onNext" delay="0">
                        <p:tgtEl>
                          <p:sldTgt/>
                        </p:tgtEl>
                      </p:cond>
                    </p:nextCondLst>
                  </p:par>
                </p:childTnLst>
              </p:cTn>
            </p:seq>
            <p:audi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solo på din egen maskine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18" name="Picture 1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eksperter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og holde tråden —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dagen før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du står ikke alene med det. Hvis ingen melder sig, vælger vi én — og vi gentager øvelsen i starten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11091672" cy="822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122A52"/>
                </a:solidFill>
                <a:latin typeface="Helvetica"/>
              </a:rPr>
              <a:t>Forskellen er hvor præcist du beskriver opgaven.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983480"/>
            <a:ext cx="11091672" cy="1143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5B81C"/>
                </a:solidFill>
                <a:latin typeface="Menlo"/>
              </a:rPr>
              <a:t>OG VIGTIGST AF ALT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4068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Helvetica"/>
              </a:rPr>
              <a:t>Den første prompt er den vigtigste.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4" name="Picture 13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Tænk i fire dele når du skriver en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Fx "Lav en
helper", "Tilføj knap".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8664" y="2514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2A52"/>
                </a:solidFill>
                <a:latin typeface="Helvetica"/>
              </a:rPr>
              <a:t>Når 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09176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5" name="Picture 2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6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6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6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Solo · 20 min — brug strukturen og prøv begge prompt-typer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Hvilke filer
skal 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39312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3944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vil du
have gjort?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55664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43416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72016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6648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B81C"/>
                </a:solidFill>
                <a:latin typeface="Menlo"/>
              </a:rPr>
              <a:t>EKSEMPEL — sådan kunne en god prompt se ud: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931920"/>
            <a:ext cx="11018520" cy="233172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69080"/>
            <a:ext cx="10469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[1] </a:t>
            </a:r>
            <a:r>
              <a:rPr sz="1300">
                <a:solidFill>
                  <a:srgbClr val="E2E8F0"/>
                </a:solidFill>
                <a:latin typeface="Menlo"/>
              </a:rPr>
              <a:t>Læs lib/propertyService.ts.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[2] </a:t>
            </a:r>
            <a:r>
              <a:rPr sz="1300">
                <a:solidFill>
                  <a:srgbClr val="E2E8F0"/>
                </a:solidFill>
                <a:latin typeface="Menlo"/>
              </a:rPr>
              <a:t>Tilføj findByCity(city: string) der returnerer alle boliger i en given by.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[3] </a:t>
            </a:r>
            <a:r>
              <a:rPr sz="1300">
                <a:solidFill>
                  <a:srgbClr val="E2E8F0"/>
                </a:solidFill>
                <a:latin typeface="Menlo"/>
              </a:rPr>
              <a:t>Rør ikke getAll eller findById. Ingen commit.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[4] </a:t>
            </a:r>
            <a:r>
              <a:rPr sz="1300">
                <a:solidFill>
                  <a:srgbClr val="E2E8F0"/>
                </a:solidFill>
                <a:latin typeface="Menlo"/>
              </a:rPr>
              <a:t>Forventet: findByCity("Hellerup") returnerer 1 bolig.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56B8A"/>
                </a:solidFill>
                <a:latin typeface="Helvetica"/>
              </a:rPr>
              <a:t>Skriv først en hurtig prompt — så git checkout . + /clear — så samme opgave med strukturen.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11 |</a:t>
            </a:r>
          </a:p>
        </p:txBody>
      </p:sp>
      <p:pic>
        <p:nvPicPr>
          <p:cNvPr id="27" name="Picture 26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