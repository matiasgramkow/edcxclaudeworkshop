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VELKOMST · 0:00–0:05</a:t>
            </a:r>
          </a:p>
          <a:p/>
          <a:p>
            <a:r>
              <a:t>Velkommen. Jeg er Matias, det her er Michael. Vi er facilitatorer for de næste 5 uger.</a:t>
            </a:r>
          </a:p>
          <a:p/>
          <a:p>
            <a:r>
              <a:t>Sig: 'Det her er ikke et kursus hvor I lytter til os. Det er en træningslejr hvor I lærer ved at gøre — og fra session 2 også ved at undervise jeres kollegaer.'</a:t>
            </a:r>
          </a:p>
          <a:p/>
          <a:p>
            <a:r>
              <a:t>Vent ikke for længe på dette slide — kom videre.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DAGSORDEN · 0:05–0:07</a:t>
            </a:r>
          </a:p>
          <a:p/>
          <a:p>
            <a:r>
              <a:t>Hurtigt overblik — peg på de fremhævede felter (de blå): det er de tre hoveddele.</a:t>
            </a:r>
          </a:p>
          <a:p/>
          <a:p>
            <a:r>
              <a:t>Sig: 'Lige om lidt fortæller jeg lidt om hvordan de næste 5 uger ser ud. Så går vi i terminalen og laver en live demo. Og så er det jer der skal kode.'</a:t>
            </a:r>
          </a:p>
          <a:p/>
          <a:p>
            <a:r>
              <a:t>Pause efter 30 min er en god mental anker — folk slapper af når de ved hvornår de kan trække vejret.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VORES ROLLE · 0:07–0:10</a:t>
            </a:r>
          </a:p>
          <a:p/>
          <a:p>
            <a:r>
              <a:t>Det her er den vigtigste pointe i dag: vi er ikke guruer. Hvis I bare lytter, lærer I ingenting. Hvis I underviser hinanden, sidder det fast.</a:t>
            </a:r>
          </a:p>
          <a:p/>
          <a:p>
            <a:r>
              <a:t>Sig direkte: 'Jeg ved ikke nødvendigvis mere end jer om Claude Code om 5 uger. Det her er et hold der lærer sammen.'</a:t>
            </a:r>
          </a:p>
          <a:p/>
          <a:p>
            <a:r>
              <a:t>Forklar at vi hjælper med slides ugen før — så ingen står alene. Det er præcis 1 time, det er ikke en disputats.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VÆLG NÆSTE PRÆSENTANT · 0:10–0:13</a:t>
            </a:r>
          </a:p>
          <a:p/>
          <a:p>
            <a:r>
              <a:t>Det her øjeblik er lidt akavet — det er meningen. Stil spørgsmålet og hold mund.</a:t>
            </a:r>
          </a:p>
          <a:p/>
          <a:p>
            <a:r>
              <a:t>Sig: 'Hvem vil tage session 2 om Plan mode? Det er torsdag, jeg hjælper jer med slides senest mandag eftermiddag.'</a:t>
            </a:r>
          </a:p>
          <a:p/>
          <a:p>
            <a:r>
              <a:t>Vent. Lad stilheden arbejde for jer. Hvis ingen melder sig efter 10 sekunder, så vælg én du ved godt har lyst — eller én der ser frisk ud. Sig venligt: '[Navn] — vil du tage den?'</a:t>
            </a:r>
          </a:p>
          <a:p/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DAGENS KERNE · 0:13–0:15</a:t>
            </a:r>
          </a:p>
          <a:p/>
          <a:p>
            <a:r>
              <a:t>Saml det op til ÉN sætning. Sig den langsomt:</a:t>
            </a:r>
          </a:p>
          <a:p/>
          <a:p>
            <a:r>
              <a:t>'En dårlig prompt giver generisk kode. En god prompt giver produktionsklar kode.'</a:t>
            </a:r>
          </a:p>
          <a:p/>
          <a:p>
            <a:r>
              <a:t>Forskellen er kontekst. Det er det vi træner i dag. Resten af de næste 5 uger bygger ovenpå 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4 BYGGEKLODSER · 0:15–0:18</a:t>
            </a:r>
          </a:p>
          <a:p/>
          <a:p>
            <a:r>
              <a:t>Det her er det MØNSTER I skal kunne udenad efter session 1. Læs dem op én af gangen og giv et lille eksempel:</a:t>
            </a:r>
          </a:p>
          <a:p/>
          <a:p>
            <a:r>
              <a:t>1. KONTEKST — 'Læs lib/propertyService.ts og components/PropertyCard.tsx'</a:t>
            </a:r>
          </a:p>
          <a:p>
            <a:r>
              <a:t>2. OPGAVE — 'Lav en formatPrice-helper og brug den i begge filer'</a:t>
            </a:r>
          </a:p>
          <a:p>
            <a:r>
              <a:t>3. BEGRÆNSNINGER — 'Rør intet andet. Ingen commit.'</a:t>
            </a:r>
          </a:p>
          <a:p>
            <a:r>
              <a:t>4. FORVENTET OUTPUT — 'Priser vises som 8.500.000 kr. — alle 3 steder'</a:t>
            </a:r>
          </a:p>
          <a:p/>
          <a:p>
            <a:r>
              <a:t>Lov dem at vi vender tilbage til mønsteret hver eneste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TRYGHED · 0:18–0:20</a:t>
            </a:r>
          </a:p>
          <a:p/>
          <a:p>
            <a:r>
              <a:t>Det her er et trick I skal vide om FRA dag 1, selvom vi går i dybden i session 3.</a:t>
            </a:r>
          </a:p>
          <a:p/>
          <a:p>
            <a:r>
              <a:t>Sig: 'Når Claude laver noget I fortryder — eller koden går i sort — så tryk Esc to gange. Der kommer en menu hvor I kan rulle tilbage til ethvert tidligere punkt i samtalen. Filerne, conversation, eller begge dele.'</a:t>
            </a:r>
          </a:p>
          <a:p/>
          <a:p>
            <a:r>
              <a:t>Pointe (læs slidet højt): 'Det er det her der gør det trygt at lade Claude prøve noget vildt.'</a:t>
            </a:r>
          </a:p>
          <a:p/>
          <a:p>
            <a:r>
              <a:t>Sig: 'I må gerne bruge det fra første prompt I skriver i dag.'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 · 0:20 — start</a:t>
            </a:r>
          </a:p>
          <a:p/>
          <a:p>
            <a:r>
              <a:t>OK — nu skifter vi til terminal og browser. Slides bliver siddende på dette billede mens I forklarer setup'et.</a:t>
            </a:r>
          </a:p>
          <a:p/>
          <a:p>
            <a:r>
              <a:t>Sig: 'I de næste 15 minutter skriver jeg samme opgave til Claude — først dårligt, så godt. Kig BÅDE på terminalen og på /demo i browseren ved siden af.'</a:t>
            </a:r>
          </a:p>
          <a:p/>
          <a:p>
            <a:r>
              <a:t>TJEKLISTE FØR DU KØRER:</a:t>
            </a:r>
          </a:p>
          <a:p>
            <a:r>
              <a:t>□ git status er clean</a:t>
            </a:r>
          </a:p>
          <a:p>
            <a:r>
              <a:t>□ /demo er åben i browseren med USD-priser synlige</a:t>
            </a:r>
          </a:p>
          <a:p>
            <a:r>
              <a:t>□ claude --dangerously-skip-permissions kører i demo/-mappen</a:t>
            </a:r>
          </a:p>
          <a:p>
            <a:r>
              <a:t>□ Du kan se BÅDE terminal og browser samtidig på projektoren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 BUG'EN · 0:20–0:22</a:t>
            </a:r>
          </a:p>
          <a:p/>
          <a:p>
            <a:r>
              <a:t>Skift til browseren. Scroll ned ad /demo. Peg eksplicit på priserne.</a:t>
            </a:r>
          </a:p>
          <a:p/>
          <a:p>
            <a:r>
              <a:t>Sig: 'Det her er en dansk bolig-side. Priserne er i amerikanske dollars MED cents. Hele sitet er i stykker visuelt.'</a:t>
            </a:r>
          </a:p>
          <a:p/>
          <a:p>
            <a:r>
              <a:t>Klik på en bolig — vis at detaljesiden har samme problem. Søg demo@edc.dk i favorit-widgeten — også USD-priser.</a:t>
            </a:r>
          </a:p>
          <a:p/>
          <a:p>
            <a:r>
              <a:t>Sig: 'Det er det her vi vil have Claude til at fixe. Pris-formateringen ligger inline 3 steder uden helper. Det er ikke konstrueret — det er typisk consequence af 'hurtigt fix' nogen lavede engang.'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DÅRLIG PROMPT · 0:22–0:26</a:t>
            </a:r>
          </a:p>
          <a:p/>
          <a:p>
            <a:r>
              <a:t>Sig først: 'Det her ligner en prompt de fleste skriver på autopilot — vi nævner symptomet, men ikke hvor i koden det skal fixes. Det er IKKE en stråmand, det er hverdag.'</a:t>
            </a:r>
          </a:p>
          <a:p/>
          <a:p>
            <a:r>
              <a:t>Kopier prompten ind. Tryk enter.</a:t>
            </a:r>
          </a:p>
          <a:p/>
          <a:p>
            <a:r>
              <a:t>Mens Claude arbejder, fortæl: 'Forventning: den finder ET fix der virker. Men vi har kørt det her 3 gange — den lander forskelligt hver gang.'</a:t>
            </a:r>
          </a:p>
          <a:p/>
          <a:p>
            <a:r>
              <a:t>Når den er færdig: vis hvad den gjorde, refresh /demo, og sig: 'Det virker! Men hold den her i baghovedet.'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GOD PROMPT · 0:26–0:31</a:t>
            </a:r>
          </a:p>
          <a:p/>
          <a:p>
            <a:r>
              <a:t>Først: rul tilbage. Sig højt mens du gør det:</a:t>
            </a:r>
          </a:p>
          <a:p>
            <a:r>
              <a:t>  git checkout .</a:t>
            </a:r>
          </a:p>
          <a:p>
            <a:r>
              <a:t>  /clear</a:t>
            </a:r>
          </a:p>
          <a:p/>
          <a:p>
            <a:r>
              <a:t>Sig: 'Nu siger vi præcis HVOR (3 filer), HVAD (én helper), og HVORDAN (da-DK, DKK, 0 decimaler).'</a:t>
            </a:r>
          </a:p>
          <a:p/>
          <a:p>
            <a:r>
              <a:t>Kopier den gode prompt ind. Tryk enter.</a:t>
            </a:r>
          </a:p>
          <a:p/>
          <a:p>
            <a:r>
              <a:t>Når den er færdig: vis at den lavede ÉN helper i propertyService.ts, og at de andre 2 filer importerer den. Refresh /demo.</a:t>
            </a:r>
          </a:p>
          <a:p/>
          <a:p>
            <a:r>
              <a:t>Sig: 'Samme visuelle resultat. Helt anden kode-struktur.'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POINTEN · 0:31–0:33</a:t>
            </a:r>
          </a:p>
          <a:p/>
          <a:p>
            <a:r>
              <a:t>Det her er momentet hvor I skal sige det højt — ikke bare lade slidet tale.</a:t>
            </a:r>
          </a:p>
          <a:p/>
          <a:p>
            <a:r>
              <a:t>Sig: 'Begge fixes virker visuelt — kr. står overalt. Men kig på koden:</a:t>
            </a:r>
          </a:p>
          <a:p>
            <a:r>
              <a:t>- Den dårlige duplikerede logikken 3 steder.</a:t>
            </a:r>
          </a:p>
          <a:p>
            <a:r>
              <a:t>- Den gode lavede én helper, brugt 3 steder.'</a:t>
            </a:r>
          </a:p>
          <a:p/>
          <a:p>
            <a:r>
              <a:t>'Om 3 måneder, når en designer beder om at vise øre i favorit-listen, er det den forskel der bestemmer om I bruger 5 minutter eller 30.'</a:t>
            </a:r>
          </a:p>
          <a:p/>
          <a:p>
            <a:r>
              <a:t>Det er pointen. Det er hele dagen i én sætning.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VIGTIGT FORBEHOLD · 0:33–0:35</a:t>
            </a:r>
          </a:p>
          <a:p/>
          <a:p>
            <a:r>
              <a:t>Det her slide er forsikring mod den deltager der siger 'jamen den dårlige fungerede jo fint'.</a:t>
            </a:r>
          </a:p>
          <a:p/>
          <a:p>
            <a:r>
              <a:t>Sig direkte: 'I har ret. På denne lille demo med Opus 4.7 er forskellen subtil — Claude er smart nok til at finde et fix der virker, selv når prompten er vag.'</a:t>
            </a:r>
          </a:p>
          <a:p/>
          <a:p>
            <a:r>
              <a:t>'Men i jeres rigtige projekter — 100k+ linjer, DTO'er, mappere, migrations, konventioner der ikke er skrevet ned — eksploderer det. En vag prompt rammer den forkerte fil, glemmer halvdelen af kæden, eller introducerer et abstraktionslag der konflikter med jeres eksisterende.'</a:t>
            </a:r>
          </a:p>
          <a:p/>
          <a:p>
            <a:r>
              <a:t>'Vi træner mønsteret her hvor det er sikkert at fejle — så det sidder i fingrene når I er midt i en rigtig PR mandag morgen.'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· 0:35 — start</a:t>
            </a:r>
          </a:p>
          <a:p/>
          <a:p>
            <a:r>
              <a:t>Korte og klare instrukser. Læs slidet højt — kort.</a:t>
            </a:r>
          </a:p>
          <a:p/>
          <a:p>
            <a:r>
              <a:t>Sig: 'Nu jer. Par jer op 2 og 2 — gerne på tværs af teams så I møder nogen nye. I har 20 minutter.'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FORTSAT · 0:35–0:55</a:t>
            </a:r>
          </a:p>
          <a:p/>
          <a:p>
            <a:r>
              <a:t>Pege på slidet og læs trinene højt. Sørg for at de:</a:t>
            </a:r>
          </a:p>
          <a:p>
            <a:r>
              <a:t>1. Får clonet repoet (én af dem)</a:t>
            </a:r>
          </a:p>
          <a:p>
            <a:r>
              <a:t>2. Kører Claude i demo/-mappen</a:t>
            </a:r>
          </a:p>
          <a:p>
            <a:r>
              <a:t>3. PRØVER BEGGE prompts — ikke bare den gode</a:t>
            </a:r>
          </a:p>
          <a:p>
            <a:r>
              <a:t>4. Diskuterer forskellen sammen</a:t>
            </a:r>
          </a:p>
          <a:p/>
          <a:p>
            <a:r>
              <a:t>Mens de arbejder: gå rundt. Hjælp dem der sidder fast. Lyt efter en god 'aha'-bemærkning du kan bede dem dele bagefter.</a:t>
            </a:r>
          </a:p>
          <a:p/>
          <a:p>
            <a:r>
              <a:t>Med 5 min tilbage: 'Saml jer — én indsigt højt fra hvert par. Den der overraskede jer mest.'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AFSLUTNING · 0:55–1:00</a:t>
            </a:r>
          </a:p>
          <a:p/>
          <a:p>
            <a:r>
              <a:t>Sig direkte: 'Hjemmeopgaven er nem. Brug Claude Code på MINDST én rigtig opgave inden torsdag — i et af jeres rigtige projekter, ikke demoen.'</a:t>
            </a:r>
          </a:p>
          <a:p/>
          <a:p>
            <a:r>
              <a:t>'Tag to prompts med til torsdag: én der virkede godt, og én der ikke gjorde. Vi starter session 2 med at dele dem. Vi lærer mest af de fejlede prompts.'</a:t>
            </a:r>
          </a:p>
          <a:p/>
          <a:p>
            <a:r>
              <a:t>Bekræft næste præsentant igen ved navn så de ved det er reelt: '[Navn] tager session 2 om Plan mode. Jeg sender slide-skabelon og pre-work-video senest mandag.'</a:t>
            </a:r>
          </a:p>
          <a:p/>
          <a:p>
            <a:r>
              <a:t>Tak for i dag.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210312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0:30–0:35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Pause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par jer 2 og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89204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489204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20" name="Picture 1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guruer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— ikke for at være eksperter på Claude Code.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 · 1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mandag eftermiddag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I står ikke alene med det. Hvis ingen melder sig, vælger vi én — og vi gentager øvelsen i slutningen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meget kontekst du giver Claude.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god prompt har altid disse fire dele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6472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6472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Verbum først.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1344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47104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7104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2103120"/>
            <a:ext cx="2606040" cy="31089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17736" y="246888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17736" y="3291840"/>
            <a:ext cx="1874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4023360"/>
            <a:ext cx="18745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53212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4" name="Picture 2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210312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Bug'en på /demo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Priser i USD med cents på en dansk side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349240" cy="338328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NU (BUG)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8B1F1F"/>
                </a:solidFill>
                <a:latin typeface="Menlo"/>
              </a:rPr>
              <a:t>$8,500,000.00
$4,250,000.00
$6,900,000.00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103120"/>
            <a:ext cx="5349240" cy="338328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ØNSKET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971800"/>
            <a:ext cx="461772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 i="0">
                <a:solidFill>
                  <a:srgbClr val="14532D"/>
                </a:solidFill>
                <a:latin typeface="Menlo"/>
              </a:rPr>
              <a:t>8.500.000 kr.
4.250.000 kr.
6.900.000 kr.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 i="1">
                <a:solidFill>
                  <a:srgbClr val="556B8A"/>
                </a:solidFill>
                <a:latin typeface="Helvetica"/>
              </a:rPr>
              <a:t>Pris-formateringen ligger inline 3 steder uden helper — typisk consequence af "hurtigt fix".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4" name="Picture 13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1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Dårlig prompt — "realistisk dårlig"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10908792" cy="182880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Priserne på /demo vises som amerikanske dollars med cents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(fx "$8,500,000.00") overalt. Det er en dansk side.</a:t>
            </a:r>
          </a:p>
          <a:p>
            <a:pPr algn="l">
              <a:lnSpc>
                <a:spcPct val="125000"/>
              </a:lnSpc>
            </a:pPr>
            <a:r>
              <a:rPr sz="1800">
                <a:solidFill>
                  <a:srgbClr val="E2E8F0"/>
                </a:solidFill>
                <a:latin typeface="Menlo"/>
              </a:rPr>
              <a:t>Fix det. Ingen commit eller push.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22A52"/>
                </a:solidFill>
                <a:latin typeface="Helvetica"/>
              </a:rPr>
              <a:t>Hvad sker 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Claude finder *et* fix — men forskelligt hver gang du kører prompten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Inline-duplikering 3 steder, eller patch kun én fil og misser resten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6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600" b="0">
                <a:solidFill>
                  <a:srgbClr val="122A52"/>
                </a:solidFill>
                <a:latin typeface="Helvetica"/>
              </a:rPr>
              <a:t>Det "virker" — men efterlader kode der er svær at vedligeholde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Forsøg 2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God prompt — samme opgave, med kontekst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08792" cy="4023360"/>
          </a:xfrm>
          <a:prstGeom prst="roundRect">
            <a:avLst>
              <a:gd name="adj" fmla="val 4000"/>
            </a:avLst>
          </a:prstGeom>
          <a:solidFill>
            <a:srgbClr val="0F1F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65760" rIns="365760" tIns="274320" bIns="274320" wrap="square"/>
          <a:lstStyle/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Pris-formateringen ligger inline tre steder med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Intl.NumberFormat('en-US', { style: 'currency',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currency: 'USD', maximumFractionDigits: 2 }):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lib/propertyService.ts (i getAll, 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components/PropertyCard.tsx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- app/properties/[id]/page.tsx (formattedPrice)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Lav en formatPrice(price: number)-helper i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lib/propertyService.ts der bruger 'da-DK', 'DKK' og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maximumFractionDigits: 0. Brug den fra alle tre steder.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 </a:t>
            </a:r>
          </a:p>
          <a:p>
            <a:pPr algn="l">
              <a:lnSpc>
                <a:spcPct val="125000"/>
              </a:lnSpc>
            </a:pPr>
            <a:r>
              <a:rPr sz="1400">
                <a:solidFill>
                  <a:srgbClr val="E2E8F0"/>
                </a:solidFill>
                <a:latin typeface="Menlo"/>
              </a:rPr>
              <a:t>Rør intet andet. Ingen commit eller push.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08792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122A52"/>
                </a:solidFill>
                <a:latin typeface="Helvetica"/>
              </a:rPr>
              <a:t>Resultat: én helper, brugt 3 steder. Deterministisk.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11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13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2103120"/>
            <a:ext cx="914400" cy="9144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par jer 2 og 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Par jer op — gerne på tværs af teams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En af jer kører: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700" b="0">
                <a:solidFill>
                  <a:srgbClr val="122A52"/>
                </a:solidFill>
                <a:latin typeface="Helvetica"/>
              </a:rPr>
              <a:t> + </a:t>
            </a:r>
            <a:r>
              <a:rPr sz="17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7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7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700" b="0">
                <a:solidFill>
                  <a:srgbClr val="122A52"/>
                </a:solidFill>
                <a:latin typeface="Helvetica"/>
              </a:rPr>
              <a:t> — som I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7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7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7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7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7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700" b="0">
                <a:solidFill>
                  <a:srgbClr val="122A52"/>
                </a:solidFill>
                <a:latin typeface="Helvetica"/>
              </a:rPr>
              <a:t>Sammenlign: hvad var forskellen? Hvilken ville I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15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82296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