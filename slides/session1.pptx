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VELKOMST · 0:00–0:05</a:t>
            </a:r>
          </a:p>
          <a:p/>
          <a:p>
            <a:r>
              <a:t>Velkommen. Jeg er Matias, det her er Michael. Vi er facilitatorer for de næste 5 uger.</a:t>
            </a:r>
          </a:p>
          <a:p/>
          <a:p>
            <a:r>
              <a:t>Sig: 'Det her er ikke et kursus hvor I lytter til os. Det er en træningslejr hvor I lærer ved at gøre — og fra session 2 også ved at undervise jeres kollegaer.'</a:t>
            </a:r>
          </a:p>
          <a:p/>
          <a:p>
            <a:r>
              <a:t>Vent ikke for længe på dette slide — kom videre.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DAGSORDEN · 0:05–0:07</a:t>
            </a:r>
          </a:p>
          <a:p/>
          <a:p>
            <a:r>
              <a:t>Hurtigt overblik — peg på de fremhævede felter (de blå): det er de tre hoveddele.</a:t>
            </a:r>
          </a:p>
          <a:p/>
          <a:p>
            <a:r>
              <a:t>Sig: 'Lige om lidt fortæller jeg lidt om hvordan de næste 5 uger ser ud. Så går vi i terminalen og laver en live demo. Og så er det jer der skal kode.'</a:t>
            </a:r>
          </a:p>
          <a:p/>
          <a:p>
            <a:r>
              <a:t>Pause efter 30 min er en god mental anker — folk slapper af når de ved hvornår de kan trække vejret.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VORES ROLLE · 0:07–0:10</a:t>
            </a:r>
          </a:p>
          <a:p/>
          <a:p>
            <a:r>
              <a:t>Det her er den vigtigste pointe i dag: vi er ikke guruer. Hvis I bare lytter, lærer I ingenting. Hvis I underviser hinanden, sidder det fast.</a:t>
            </a:r>
          </a:p>
          <a:p/>
          <a:p>
            <a:r>
              <a:t>Sig direkte: 'Jeg ved ikke nødvendigvis mere end jer om Claude Code om 5 uger. Det her er et hold der lærer sammen.'</a:t>
            </a:r>
          </a:p>
          <a:p/>
          <a:p>
            <a:r>
              <a:t>Forklar at vi hjælper med slides ugen før — så ingen står alene. Det er præcis 1 time, det er ikke en disputats.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VÆLG NÆSTE PRÆSENTANT · 0:10–0:13</a:t>
            </a:r>
          </a:p>
          <a:p/>
          <a:p>
            <a:r>
              <a:t>Det her øjeblik er lidt akavet — det er meningen. Stil spørgsmålet og hold mund.</a:t>
            </a:r>
          </a:p>
          <a:p/>
          <a:p>
            <a:r>
              <a:t>Sig: 'Hvem vil tage session 2 om Plan mode? Det er torsdag, jeg hjælper jer med slides senest mandag eftermiddag.'</a:t>
            </a:r>
          </a:p>
          <a:p/>
          <a:p>
            <a:r>
              <a:t>Vent. Lad stilheden arbejde for jer. Hvis ingen melder sig efter 10 sekunder, så vælg én du ved godt har lyst — eller én der ser frisk ud. Sig venligt: '[Navn] — vil du tage den?'</a:t>
            </a:r>
          </a:p>
          <a:p/>
          <a:p>
            <a:r>
              <a:t>Når én melder sig: TAK højt. Det sætter normen for resten af forløbet.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DAGENS KERNE · 0:13–0:15</a:t>
            </a:r>
          </a:p>
          <a:p/>
          <a:p>
            <a:r>
              <a:t>Saml det op til ÉN sætning. Sig den langsomt:</a:t>
            </a:r>
          </a:p>
          <a:p/>
          <a:p>
            <a:r>
              <a:t>'En dårlig prompt giver generisk kode. En god prompt giver produktionsklar kode.'</a:t>
            </a:r>
          </a:p>
          <a:p/>
          <a:p>
            <a:r>
              <a:t>Forskellen er kontekst. Det er det vi træner i dag. Resten af de næste 5 uger bygger ovenpå det.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4 BYGGEKLODSER · 0:15–0:18</a:t>
            </a:r>
          </a:p>
          <a:p/>
          <a:p>
            <a:r>
              <a:t>Det her er det MØNSTER I skal kunne udenad efter session 1. Læs dem op én af gangen og giv et lille eksempel:</a:t>
            </a:r>
          </a:p>
          <a:p/>
          <a:p>
            <a:r>
              <a:t>1. KONTEKST — 'Læs lib/propertyService.ts og components/PropertyCard.tsx'</a:t>
            </a:r>
          </a:p>
          <a:p>
            <a:r>
              <a:t>2. OPGAVE — 'Lav en formatPrice-helper og brug den i begge filer'</a:t>
            </a:r>
          </a:p>
          <a:p>
            <a:r>
              <a:t>3. BEGRÆNSNINGER — 'Rør intet andet. Ingen commit.'</a:t>
            </a:r>
          </a:p>
          <a:p>
            <a:r>
              <a:t>4. FORVENTET OUTPUT — 'Priser vises som 8.500.000 kr. — alle 3 steder'</a:t>
            </a:r>
          </a:p>
          <a:p/>
          <a:p>
            <a:r>
              <a:t>Lov dem at vi vender tilbage til mønsteret hver eneste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TRYGHED · 0:18–0:20</a:t>
            </a:r>
          </a:p>
          <a:p/>
          <a:p>
            <a:r>
              <a:t>Det her er et trick I skal vide om FRA dag 1, selvom vi går i dybden i session 3.</a:t>
            </a:r>
          </a:p>
          <a:p/>
          <a:p>
            <a:r>
              <a:t>Sig: 'Når Claude laver noget I fortryder — eller koden går i sort — så tryk Esc to gange. Der kommer en menu hvor I kan rulle tilbage til ethvert tidligere punkt i samtalen. Filerne, conversation, eller begge dele.'</a:t>
            </a:r>
          </a:p>
          <a:p/>
          <a:p>
            <a:r>
              <a:t>Pointe (læs slidet højt): 'Det er det her der gør det trygt at lade Claude prøve noget vildt.'</a:t>
            </a:r>
          </a:p>
          <a:p/>
          <a:p>
            <a:r>
              <a:t>Sig: 'I må gerne bruge det fra første prompt I skriver i dag.'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 · 0:20 — start</a:t>
            </a:r>
          </a:p>
          <a:p/>
          <a:p>
            <a:r>
              <a:t>OK — nu skifter vi til terminal og browser. Slides bliver siddende på dette billede mens I forklarer setup'et.</a:t>
            </a:r>
          </a:p>
          <a:p/>
          <a:p>
            <a:r>
              <a:t>Sig: 'I de næste 15 minutter skriver jeg samme opgave til Claude — først dårligt, så godt. Kig BÅDE på terminalen og på /demo i browseren ved siden af.'</a:t>
            </a:r>
          </a:p>
          <a:p/>
          <a:p>
            <a:r>
              <a:t>TJEKLISTE FØR DU KØRER:</a:t>
            </a:r>
          </a:p>
          <a:p>
            <a:r>
              <a:t>□ git status er clean</a:t>
            </a:r>
          </a:p>
          <a:p>
            <a:r>
              <a:t>□ /demo er åben i browseren med USD-priser synlige</a:t>
            </a:r>
          </a:p>
          <a:p>
            <a:r>
              <a:t>□ claude --dangerously-skip-permissions kører i demo/-mappen</a:t>
            </a:r>
          </a:p>
          <a:p>
            <a:r>
              <a:t>□ Du kan se BÅDE terminal og browser samtidig på projektoren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 BUG'EN · 0:20–0:22</a:t>
            </a:r>
          </a:p>
          <a:p/>
          <a:p>
            <a:r>
              <a:t>Skift til browseren. Scroll ned ad /demo. Peg eksplicit på priserne.</a:t>
            </a:r>
          </a:p>
          <a:p/>
          <a:p>
            <a:r>
              <a:t>Sig: 'Det her er en dansk bolig-side. Priserne er i amerikanske dollars MED cents. Hele sitet er i stykker visuelt.'</a:t>
            </a:r>
          </a:p>
          <a:p/>
          <a:p>
            <a:r>
              <a:t>Klik på en bolig — vis at detaljesiden har samme problem. Søg demo@edc.dk i favorit-widgeten — også USD-priser.</a:t>
            </a:r>
          </a:p>
          <a:p/>
          <a:p>
            <a:r>
              <a:t>Sig: 'Det er det her vi vil have Claude til at fixe. Pris-formateringen ligger inline 3 steder uden helper. Det er ikke konstrueret — det er typisk consequence af 'hurtigt fix' nogen lavede engang.'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DÅRLIG PROMPT · 0:22–0:26</a:t>
            </a:r>
          </a:p>
          <a:p/>
          <a:p>
            <a:r>
              <a:t>Sig først: 'Det her ligner en prompt de fleste skriver på autopilot — vi nævner symptomet, men ikke hvor i koden det skal fixes. Det er IKKE en stråmand, det er hverdag.'</a:t>
            </a:r>
          </a:p>
          <a:p/>
          <a:p>
            <a:r>
              <a:t>Kopier prompten ind. Tryk enter.</a:t>
            </a:r>
          </a:p>
          <a:p/>
          <a:p>
            <a:r>
              <a:t>Mens Claude arbejder, fortæl: 'Forventning: den finder ET fix der virker. Men vi har kørt det her 3 gange — den lander forskelligt hver gang.'</a:t>
            </a:r>
          </a:p>
          <a:p/>
          <a:p>
            <a:r>
              <a:t>Når den er færdig: vis hvad den gjorde, refresh /demo, og sig: 'Det virker! Men hold den her i baghovedet.'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GOD PROMPT · 0:26–0:31</a:t>
            </a:r>
          </a:p>
          <a:p/>
          <a:p>
            <a:r>
              <a:t>Først: rul tilbage. Sig højt mens du gør det:</a:t>
            </a:r>
          </a:p>
          <a:p>
            <a:r>
              <a:t>  git checkout .</a:t>
            </a:r>
          </a:p>
          <a:p>
            <a:r>
              <a:t>  /clear</a:t>
            </a:r>
          </a:p>
          <a:p/>
          <a:p>
            <a:r>
              <a:t>Sig: 'Nu siger vi præcis HVOR (3 filer), HVAD (én helper), og HVORDAN (da-DK, DKK, 0 decimaler).'</a:t>
            </a:r>
          </a:p>
          <a:p/>
          <a:p>
            <a:r>
              <a:t>Kopier den gode prompt ind. Tryk enter.</a:t>
            </a:r>
          </a:p>
          <a:p/>
          <a:p>
            <a:r>
              <a:t>Når den er færdig: vis at den lavede ÉN helper i propertyService.ts, og at de andre 2 filer importerer den. Refresh /demo.</a:t>
            </a:r>
          </a:p>
          <a:p/>
          <a:p>
            <a:r>
              <a:t>Sig: 'Samme visuelle resultat. Helt anden kode-struktur.'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POINTEN · 0:31–0:33</a:t>
            </a:r>
          </a:p>
          <a:p/>
          <a:p>
            <a:r>
              <a:t>Det her er momentet hvor I skal sige det højt — ikke bare lade slidet tale.</a:t>
            </a:r>
          </a:p>
          <a:p/>
          <a:p>
            <a:r>
              <a:t>Sig: 'Begge fixes virker visuelt — kr. står overalt. Men kig på koden:</a:t>
            </a:r>
          </a:p>
          <a:p>
            <a:r>
              <a:t>- Den dårlige duplikerede logikken 3 steder.</a:t>
            </a:r>
          </a:p>
          <a:p>
            <a:r>
              <a:t>- Den gode lavede én helper, brugt 3 steder.'</a:t>
            </a:r>
          </a:p>
          <a:p/>
          <a:p>
            <a:r>
              <a:t>'Om 3 måneder, når en designer beder om at vise øre i favorit-listen, er det den forskel der bestemmer om I bruger 5 minutter eller 30.'</a:t>
            </a:r>
          </a:p>
          <a:p/>
          <a:p>
            <a:r>
              <a:t>Det er pointen. Det er hele dagen i én sætning.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VIGTIGT FORBEHOLD · 0:33–0:35</a:t>
            </a:r>
          </a:p>
          <a:p/>
          <a:p>
            <a:r>
              <a:t>Det her slide er forsikring mod den deltager der siger 'jamen den dårlige fungerede jo fint'.</a:t>
            </a:r>
          </a:p>
          <a:p/>
          <a:p>
            <a:r>
              <a:t>Sig direkte: 'I har ret. På denne lille demo med Opus 4.7 er forskellen subtil — Claude er smart nok til at finde et fix der virker, selv når prompten er vag.'</a:t>
            </a:r>
          </a:p>
          <a:p/>
          <a:p>
            <a:r>
              <a:t>'Men i jeres rigtige projekter — 100k+ linjer, DTO'er, mappere, migrations, konventioner der ikke er skrevet ned — eksploderer det. En vag prompt rammer den forkerte fil, glemmer halvdelen af kæden, eller introducerer et abstraktionslag der konflikter med jeres eksisterende.'</a:t>
            </a:r>
          </a:p>
          <a:p/>
          <a:p>
            <a:r>
              <a:t>'Vi træner mønsteret her hvor det er sikkert at fejle — så det sidder i fingrene når I er midt i en rigtig PR mandag morgen.'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 · 0:35 — start</a:t>
            </a:r>
          </a:p>
          <a:p/>
          <a:p>
            <a:r>
              <a:t>Korte og klare instrukser. Læs slidet højt — kort.</a:t>
            </a:r>
          </a:p>
          <a:p/>
          <a:p>
            <a:r>
              <a:t>Sig: 'Nu jer. Par jer op 2 og 2 — gerne på tværs af teams så I møder nogen nye. I har 20 minutter.'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 FORTSAT · 0:35–0:55</a:t>
            </a:r>
          </a:p>
          <a:p/>
          <a:p>
            <a:r>
              <a:t>Pege på slidet og læs trinene højt. Sørg for at de:</a:t>
            </a:r>
          </a:p>
          <a:p>
            <a:r>
              <a:t>1. Får clonet repoet (én af dem)</a:t>
            </a:r>
          </a:p>
          <a:p>
            <a:r>
              <a:t>2. Kører Claude i demo/-mappen</a:t>
            </a:r>
          </a:p>
          <a:p>
            <a:r>
              <a:t>3. PRØVER BEGGE prompts — ikke bare den gode</a:t>
            </a:r>
          </a:p>
          <a:p>
            <a:r>
              <a:t>4. Diskuterer forskellen sammen</a:t>
            </a:r>
          </a:p>
          <a:p/>
          <a:p>
            <a:r>
              <a:t>Mens de arbejder: gå rundt. Hjælp dem der sidder fast. Lyt efter en god 'aha'-bemærkning du kan bede dem dele bagefter.</a:t>
            </a:r>
          </a:p>
          <a:p/>
          <a:p>
            <a:r>
              <a:t>Med 5 min tilbage: 'Saml jer — én indsigt højt fra hvert par. Den der overraskede jer mest.'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AFSLUTNING · 0:55–1:00</a:t>
            </a:r>
          </a:p>
          <a:p/>
          <a:p>
            <a:r>
              <a:t>Sig direkte: 'Hjemmeopgaven er nem. Brug Claude Code på MINDST én rigtig opgave inden torsdag — i et af jeres rigtige projekter, ikke demoen.'</a:t>
            </a:r>
          </a:p>
          <a:p/>
          <a:p>
            <a:r>
              <a:t>'Tag to prompts med til torsdag: én der virkede godt, og én der ikke gjorde. Vi starter session 2 med at dele dem. Vi lærer mest af de fejlede prompts.'</a:t>
            </a:r>
          </a:p>
          <a:p/>
          <a:p>
            <a:r>
              <a:t>Bekræft næste præsentant igen ved navn så de ved det er reelt: '[Navn] tager session 2 om Plan mode. Jeg sender slide-skabelon og pre-work-video senest mandag.'</a:t>
            </a:r>
          </a:p>
          <a:p/>
          <a:p>
            <a:r>
              <a:t>Tak for i dag.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65176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F5B81C"/>
                </a:solidFill>
                <a:latin typeface="Menlo"/>
              </a:rPr>
              <a:t>Session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291840"/>
            <a:ext cx="121916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 i="0">
                <a:solidFill>
                  <a:srgbClr val="FFFFFF"/>
                </a:solidFill>
                <a:latin typeface="Helvetica"/>
              </a:rPr>
              <a:t>Gode vs. dårlige prompts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29768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C8D4E8"/>
                </a:solidFill>
                <a:latin typeface="Helvetica"/>
              </a:rPr>
              <a:t>Kickoff og fundamentet · EDC ×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400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122A52"/>
                </a:solidFill>
                <a:latin typeface="Helvetica"/>
              </a:rPr>
              <a:t>Dagsorden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1091672" cy="429768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182880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0:00–0:05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97480" y="2011680"/>
            <a:ext cx="877824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Velkomst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87752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0:05–0:15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80" y="2587752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Foredrag — sådan kører de næste 5 uger + vælg næste præsentant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163824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0:15–0:30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7480" y="3163824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Live demo — samme opgave, dårlig vs. god prompt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739896"/>
            <a:ext cx="182880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0:30–0:35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7480" y="3739896"/>
            <a:ext cx="877824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Pause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315968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0:35–0:55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7480" y="4315968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Hands-on — par jer 2 og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892040"/>
            <a:ext cx="182880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0:55–1:00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97480" y="4892040"/>
            <a:ext cx="877824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Del indsigter + take-home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2 |</a:t>
            </a:r>
          </a:p>
        </p:txBody>
      </p:sp>
      <p:pic>
        <p:nvPicPr>
          <p:cNvPr id="20" name="Picture 19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Vores rolle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Facilitatorer, ikke guruer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1091672" cy="19202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2468880"/>
            <a:ext cx="640080" cy="64008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148840"/>
            <a:ext cx="94457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Vi er facilitatorer hele forløbet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697480"/>
            <a:ext cx="944575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122A52"/>
                </a:solidFill>
                <a:latin typeface="Helvetica"/>
              </a:rPr>
              <a:t>Michael og jeg står for </a:t>
            </a:r>
            <a:r>
              <a:rPr sz="1600" b="1">
                <a:solidFill>
                  <a:srgbClr val="122A52"/>
                </a:solidFill>
                <a:latin typeface="Helvetica"/>
              </a:rPr>
              <a:t>selve faciliteringen</a:t>
            </a:r>
            <a:r>
              <a:rPr sz="1600" b="0">
                <a:solidFill>
                  <a:srgbClr val="122A52"/>
                </a:solidFill>
                <a:latin typeface="Helvetica"/>
              </a:rPr>
              <a:t> alle 5 uger. Vi er her for at gøre det trygt — ikke for at være eksperter på Claude Code. Det her er et hold der lærer sammen.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023360"/>
            <a:ext cx="11091672" cy="19202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4663440"/>
            <a:ext cx="640080" cy="64008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4343400"/>
            <a:ext cx="94457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I underviser hinanden fra session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892040"/>
            <a:ext cx="944575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122A52"/>
                </a:solidFill>
                <a:latin typeface="Helvetica"/>
              </a:rPr>
              <a:t>Fra session 2 er det </a:t>
            </a:r>
            <a:r>
              <a:rPr sz="1600" b="1">
                <a:solidFill>
                  <a:srgbClr val="122A52"/>
                </a:solidFill>
                <a:latin typeface="Helvetica"/>
              </a:rPr>
              <a:t>én deltager fra holdet</a:t>
            </a:r>
            <a:r>
              <a:rPr sz="1600" b="0">
                <a:solidFill>
                  <a:srgbClr val="122A52"/>
                </a:solidFill>
                <a:latin typeface="Helvetica"/>
              </a:rPr>
              <a:t> der præsenterer dagens emne. Vi hjælper med slides ugen før, så ingen står alene med det. </a:t>
            </a:r>
            <a:r>
              <a:rPr sz="1600" b="1">
                <a:solidFill>
                  <a:srgbClr val="122A52"/>
                </a:solidFill>
                <a:latin typeface="Helvetica"/>
              </a:rPr>
              <a:t>Pointe:</a:t>
            </a:r>
            <a:r>
              <a:rPr sz="1600" b="0">
                <a:solidFill>
                  <a:srgbClr val="122A52"/>
                </a:solidFill>
                <a:latin typeface="Helvetica"/>
              </a:rPr>
              <a:t> I lærer det bedst ved at undervise det.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3 |</a:t>
            </a:r>
          </a:p>
        </p:txBody>
      </p:sp>
      <p:pic>
        <p:nvPicPr>
          <p:cNvPr id="15" name="Picture 14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Nu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Vælg næste præsentant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11091672" cy="320040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5-Point Star 4"/>
          <p:cNvSpPr/>
          <p:nvPr/>
        </p:nvSpPr>
        <p:spPr>
          <a:xfrm>
            <a:off x="914400" y="2377440"/>
            <a:ext cx="1005840" cy="1005840"/>
          </a:xfrm>
          <a:prstGeom prst="star5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77440" y="228600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B81C"/>
                </a:solidFill>
                <a:latin typeface="Menlo"/>
              </a:rPr>
              <a:t>Hvem vil tage session 2?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26974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22A52"/>
                </a:solidFill>
                <a:latin typeface="Helvetica"/>
              </a:rPr>
              <a:t>Plan mode vs. ikke plan mode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324612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56B8A"/>
                </a:solidFill>
                <a:latin typeface="Helvetica"/>
              </a:rPr>
              <a:t>Torsdag · uge 1 · 1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3931920"/>
            <a:ext cx="9144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22A52"/>
                </a:solidFill>
                <a:latin typeface="Helvetica"/>
              </a:rPr>
              <a:t>Jeg sender slide-skabelon og pre-work-video </a:t>
            </a:r>
            <a:r>
              <a:rPr sz="1500" b="1">
                <a:solidFill>
                  <a:srgbClr val="122A52"/>
                </a:solidFill>
                <a:latin typeface="Helvetica"/>
              </a:rPr>
              <a:t>senest mandag eftermiddag</a:t>
            </a:r>
            <a:r>
              <a:rPr sz="1500" b="0">
                <a:solidFill>
                  <a:srgbClr val="122A52"/>
                </a:solidFill>
                <a:latin typeface="Helvetica"/>
              </a:rPr>
              <a:t>, så I står ikke alene med det. Hvis ingen melder sig, vælger vi én — og vi gentager øvelsen i slutningen af hver session.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4 |</a:t>
            </a:r>
          </a:p>
        </p:txBody>
      </p:sp>
      <p:pic>
        <p:nvPicPr>
          <p:cNvPr id="13" name="Picture 12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Dagens kerne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En prompt er alt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556B8A"/>
                </a:solidFill>
                <a:latin typeface="Helvetica"/>
              </a:rPr>
              <a:t>En dårlig prompt giver generisk kode.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38328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22A52"/>
                </a:solidFill>
                <a:latin typeface="Helvetica"/>
              </a:rPr>
              <a:t>En god prompt giver produktionsklar kode.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029200"/>
            <a:ext cx="11091672" cy="91440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1109167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122A52"/>
                </a:solidFill>
                <a:latin typeface="Helvetica"/>
              </a:rPr>
              <a:t>Forskellen er hvor meget kontekst du giver Claude.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5 |</a:t>
            </a:r>
          </a:p>
        </p:txBody>
      </p:sp>
      <p:pic>
        <p:nvPicPr>
          <p:cNvPr id="11" name="Picture 10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De 4 byggeklodser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En god prompt har altid disse fire dele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103120"/>
            <a:ext cx="2606040" cy="310896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46888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291840"/>
            <a:ext cx="1874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122A52"/>
                </a:solidFill>
                <a:latin typeface="Helvetica"/>
              </a:rPr>
              <a:t>Kontekst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023360"/>
            <a:ext cx="1874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Hvilke filer skal
Claude læse?</a:t>
            </a:r>
          </a:p>
        </p:txBody>
      </p:sp>
      <p:sp>
        <p:nvSpPr>
          <p:cNvPr id="8" name="Rectangle 7"/>
          <p:cNvSpPr/>
          <p:nvPr/>
        </p:nvSpPr>
        <p:spPr>
          <a:xfrm>
            <a:off x="3410712" y="2103120"/>
            <a:ext cx="2606040" cy="310896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76472" y="246888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76472" y="3291840"/>
            <a:ext cx="1874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122A52"/>
                </a:solidFill>
                <a:latin typeface="Helvetica"/>
              </a:rPr>
              <a:t>Opgave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76472" y="4023360"/>
            <a:ext cx="1874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vil du have
gjort? Verbum først.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1344" y="2103120"/>
            <a:ext cx="2606040" cy="310896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7104" y="246888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3291840"/>
            <a:ext cx="1874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122A52"/>
                </a:solidFill>
                <a:latin typeface="Helvetica"/>
              </a:rPr>
              <a:t>Begrænsninger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4023360"/>
            <a:ext cx="1874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må Claude
IKKE røre?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51976" y="2103120"/>
            <a:ext cx="2606040" cy="310896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317736" y="246888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17736" y="3291840"/>
            <a:ext cx="1874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122A52"/>
                </a:solidFill>
                <a:latin typeface="Helvetica"/>
              </a:rPr>
              <a:t>Forventet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7736" y="4023360"/>
            <a:ext cx="1874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ser "done"
ud som?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532120"/>
            <a:ext cx="110916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556B8A"/>
                </a:solidFill>
                <a:latin typeface="Menlo"/>
              </a:rPr>
              <a:t>[Kontekst] + [Opgave] + [Begrænsninger] + [Forventet output]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6 |</a:t>
            </a:r>
          </a:p>
        </p:txBody>
      </p:sp>
      <p:pic>
        <p:nvPicPr>
          <p:cNvPr id="24" name="Picture 23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Tryghed fra start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Esc · Esc — undo for hele sessionen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11680"/>
            <a:ext cx="4114800" cy="2286000"/>
          </a:xfrm>
          <a:prstGeom prst="roundRect">
            <a:avLst>
              <a:gd name="adj" fmla="val 8000"/>
            </a:avLst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41148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0" b="1" i="0">
                <a:solidFill>
                  <a:srgbClr val="FFFFFF"/>
                </a:solidFill>
                <a:latin typeface="Menlo"/>
              </a:rPr>
              <a:t>Esc · Esc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2103120"/>
            <a:ext cx="65836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Tryk </a:t>
            </a:r>
            <a:r>
              <a:rPr sz="1800" b="1">
                <a:solidFill>
                  <a:srgbClr val="122A52"/>
                </a:solidFill>
                <a:latin typeface="Helvetica"/>
              </a:rPr>
              <a:t>Esc</a:t>
            </a:r>
            <a:r>
              <a:rPr sz="1800" b="0">
                <a:solidFill>
                  <a:srgbClr val="122A52"/>
                </a:solidFill>
                <a:latin typeface="Helvetica"/>
              </a:rPr>
              <a:t> to gange → rewind-menu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Vælg et tidligere step → filerne ruller tilbage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Vi går i dybden i </a:t>
            </a:r>
            <a:r>
              <a:rPr sz="1800" b="1">
                <a:solidFill>
                  <a:srgbClr val="122A52"/>
                </a:solidFill>
                <a:latin typeface="Helvetica"/>
              </a:rPr>
              <a:t>session 3</a:t>
            </a:r>
            <a:r>
              <a:rPr sz="1800" b="0">
                <a:solidFill>
                  <a:srgbClr val="122A52"/>
                </a:solidFill>
                <a:latin typeface="Helvetica"/>
              </a:rPr>
              <a:t> — men brug det fra dag 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754880"/>
            <a:ext cx="11091672" cy="118872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122A52"/>
                </a:solidFill>
                <a:latin typeface="Helvetica"/>
              </a:rPr>
              <a:t>Det er det her der gør det </a:t>
            </a:r>
            <a:r>
              <a:rPr sz="1800" b="1">
                <a:solidFill>
                  <a:srgbClr val="122A52"/>
                </a:solidFill>
                <a:latin typeface="Helvetica"/>
              </a:rPr>
              <a:t>trygt</a:t>
            </a:r>
            <a:r>
              <a:rPr sz="1800" b="0">
                <a:solidFill>
                  <a:srgbClr val="122A52"/>
                </a:solidFill>
                <a:latin typeface="Helvetica"/>
              </a:rPr>
              <a:t> at lade Claude prøve noget vildt. Hvis I aldrig kan rulle tilbage, tør I aldrig prøve noget nyt.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7 |</a:t>
            </a:r>
          </a:p>
        </p:txBody>
      </p:sp>
      <p:pic>
        <p:nvPicPr>
          <p:cNvPr id="12" name="Picture 11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327" y="1645920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6576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F5B81C"/>
                </a:solidFill>
                <a:latin typeface="Menlo"/>
              </a:rPr>
              <a:t>Punkt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2976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Helvetica"/>
              </a:rPr>
              <a:t>Live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0292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C8D4E8"/>
                </a:solidFill>
                <a:latin typeface="Helvetica"/>
              </a:rPr>
              <a:t>Samme opgave — dårlig prompt vs. god 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Bug'en på /demo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Priser i USD med cents på en dansk side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103120"/>
            <a:ext cx="5349240" cy="3383280"/>
          </a:xfrm>
          <a:prstGeom prst="rect">
            <a:avLst/>
          </a:prstGeom>
          <a:solidFill>
            <a:srgbClr val="FA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37744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B1F1F"/>
                </a:solidFill>
                <a:latin typeface="Helvetica"/>
              </a:rPr>
              <a:t>NU (BUG)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71800"/>
            <a:ext cx="46177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8B1F1F"/>
                </a:solidFill>
                <a:latin typeface="Menlo"/>
              </a:rPr>
              <a:t>$8,500,000.00
$4,250,000.00
$6,900,000.00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2103120"/>
            <a:ext cx="5349240" cy="3383280"/>
          </a:xfrm>
          <a:prstGeom prst="rect">
            <a:avLst/>
          </a:prstGeom>
          <a:solidFill>
            <a:srgbClr val="D7E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237744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532D"/>
                </a:solidFill>
                <a:latin typeface="Helvetica"/>
              </a:rPr>
              <a:t>ØNSKET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971800"/>
            <a:ext cx="46177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14532D"/>
                </a:solidFill>
                <a:latin typeface="Menlo"/>
              </a:rPr>
              <a:t>8.500.000 kr.
4.250.000 kr.
6.900.000 kr.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556B8A"/>
                </a:solidFill>
                <a:latin typeface="Helvetica"/>
              </a:rPr>
              <a:t>Pris-formateringen ligger inline 3 steder uden helper — typisk consequence af "hurtigt fix".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9 |</a:t>
            </a:r>
          </a:p>
        </p:txBody>
      </p:sp>
      <p:pic>
        <p:nvPicPr>
          <p:cNvPr id="14" name="Picture 13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Forsøg 1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Dårlig prompt — "realistisk dårlig"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11680"/>
            <a:ext cx="10908792" cy="1828800"/>
          </a:xfrm>
          <a:prstGeom prst="roundRect">
            <a:avLst>
              <a:gd name="adj" fmla="val 4000"/>
            </a:avLst>
          </a:prstGeom>
          <a:solidFill>
            <a:srgbClr val="0F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5760" rIns="365760" tIns="274320" bIns="274320" wrap="square"/>
          <a:lstStyle/>
          <a:p>
            <a:pPr algn="l">
              <a:lnSpc>
                <a:spcPct val="125000"/>
              </a:lnSpc>
            </a:pPr>
            <a:r>
              <a:rPr sz="1800">
                <a:solidFill>
                  <a:srgbClr val="E2E8F0"/>
                </a:solidFill>
                <a:latin typeface="Menlo"/>
              </a:rPr>
              <a:t>Priserne på /demo vises som amerikanske dollars med cents</a:t>
            </a:r>
          </a:p>
          <a:p>
            <a:pPr algn="l">
              <a:lnSpc>
                <a:spcPct val="125000"/>
              </a:lnSpc>
            </a:pPr>
            <a:r>
              <a:rPr sz="1800">
                <a:solidFill>
                  <a:srgbClr val="E2E8F0"/>
                </a:solidFill>
                <a:latin typeface="Menlo"/>
              </a:rPr>
              <a:t>(fx "$8,500,000.00") overalt. Det er en dansk side.</a:t>
            </a:r>
          </a:p>
          <a:p>
            <a:pPr algn="l">
              <a:lnSpc>
                <a:spcPct val="125000"/>
              </a:lnSpc>
            </a:pPr>
            <a:r>
              <a:rPr sz="1800">
                <a:solidFill>
                  <a:srgbClr val="E2E8F0"/>
                </a:solidFill>
                <a:latin typeface="Menlo"/>
              </a:rPr>
              <a:t>Fix det. Ingen commit eller push.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22A52"/>
                </a:solidFill>
                <a:latin typeface="Helvetica"/>
              </a:rPr>
              <a:t>Hvad sker der?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7200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6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600" b="0">
                <a:solidFill>
                  <a:srgbClr val="122A52"/>
                </a:solidFill>
                <a:latin typeface="Helvetica"/>
              </a:rPr>
              <a:t>Claude finder *et* fix — men forskelligt hver gang du kører prompten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6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600" b="0">
                <a:solidFill>
                  <a:srgbClr val="122A52"/>
                </a:solidFill>
                <a:latin typeface="Helvetica"/>
              </a:rPr>
              <a:t>Inline-duplikering 3 steder, eller patch kun én fil og misser resten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6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600" b="0">
                <a:solidFill>
                  <a:srgbClr val="122A52"/>
                </a:solidFill>
                <a:latin typeface="Helvetica"/>
              </a:rPr>
              <a:t>Det "virker" — men efterlader kode der er svær at vedligeholde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10 |</a:t>
            </a:r>
          </a:p>
        </p:txBody>
      </p:sp>
      <p:pic>
        <p:nvPicPr>
          <p:cNvPr id="10" name="Picture 9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Forsøg 2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God prompt — samme opgave, med kontekst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08792" cy="4023360"/>
          </a:xfrm>
          <a:prstGeom prst="roundRect">
            <a:avLst>
              <a:gd name="adj" fmla="val 4000"/>
            </a:avLst>
          </a:prstGeom>
          <a:solidFill>
            <a:srgbClr val="0F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5760" rIns="365760" tIns="274320" bIns="274320" wrap="square"/>
          <a:lstStyle/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Pris-formateringen ligger inline tre steder med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Intl.NumberFormat('en-US', { style: 'currency',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currency: 'USD', maximumFractionDigits: 2 }):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 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- lib/propertyService.ts (i getAll, formattedPrice)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- components/PropertyCard.tsx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- app/properties/[id]/page.tsx (formattedPrice)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 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Lav en formatPrice(price: number)-helper i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lib/propertyService.ts der bruger 'da-DK', 'DKK' og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maximumFractionDigits: 0. Brug den fra alle tre steder.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 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Rør intet andet. Ingen commit eller push.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943600"/>
            <a:ext cx="10908792" cy="59436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10908792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22A52"/>
                </a:solidFill>
                <a:latin typeface="Helvetica"/>
              </a:rPr>
              <a:t>Resultat: én helper, brugt 3 steder. Deterministisk.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11 |</a:t>
            </a:r>
          </a:p>
        </p:txBody>
      </p:sp>
      <p:pic>
        <p:nvPicPr>
          <p:cNvPr id="10" name="Picture 9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Pointen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Begge fixes virker visuelt — kun den ene efterlader sund kode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11680"/>
            <a:ext cx="5349240" cy="3657600"/>
          </a:xfrm>
          <a:prstGeom prst="rect">
            <a:avLst/>
          </a:prstGeom>
          <a:solidFill>
            <a:srgbClr val="FA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B1F1F"/>
                </a:solidFill>
                <a:latin typeface="Helvetica"/>
              </a:rPr>
              <a:t>DÅRLIG PROMPT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78892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3 inline-kopier af samme logik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840480"/>
            <a:ext cx="4617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DRY brudt — ændring kræver 3 filer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Forskelligt resultat hver kørsel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Nogle gange ufuldstændig fix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011680"/>
            <a:ext cx="5349240" cy="3657600"/>
          </a:xfrm>
          <a:prstGeom prst="rect">
            <a:avLst/>
          </a:prstGeom>
          <a:solidFill>
            <a:srgbClr val="D7E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28600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532D"/>
                </a:solidFill>
                <a:latin typeface="Helvetica"/>
              </a:rPr>
              <a:t>GOD 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78892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1 helper, brugt 3 steder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840480"/>
            <a:ext cx="4617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Ét sted at ændre fremover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Deterministisk — samme resultat hver gang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Helperen kan genbruges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12 |</a:t>
            </a:r>
          </a:p>
        </p:txBody>
      </p:sp>
      <p:pic>
        <p:nvPicPr>
          <p:cNvPr id="15" name="Picture 14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Vigtigt forbehold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Demoen er lille — virkeligheden er stor</a:t>
            </a:r>
          </a:p>
        </p:txBody>
      </p:sp>
      <p:sp>
        <p:nvSpPr>
          <p:cNvPr id="4" name="5-Point Star 3"/>
          <p:cNvSpPr/>
          <p:nvPr/>
        </p:nvSpPr>
        <p:spPr>
          <a:xfrm>
            <a:off x="731520" y="1920240"/>
            <a:ext cx="822960" cy="822960"/>
          </a:xfrm>
          <a:prstGeom prst="star5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196596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122A52"/>
                </a:solidFill>
                <a:latin typeface="Helvetica"/>
              </a:rPr>
              <a:t>Forskellen ser subtil ud her.</a:t>
            </a:r>
            <a:r>
              <a:rPr sz="2000" b="0">
                <a:solidFill>
                  <a:srgbClr val="122A52"/>
                </a:solidFill>
                <a:latin typeface="Helvetica"/>
              </a:rPr>
              <a:t> På jeres rigtige projekter eksploderer den.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7899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5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500" b="1">
                <a:solidFill>
                  <a:srgbClr val="122A52"/>
                </a:solidFill>
                <a:latin typeface="Helvetica"/>
              </a:rPr>
              <a:t>Her:</a:t>
            </a:r>
            <a:r>
              <a:rPr sz="1500" b="0">
                <a:solidFill>
                  <a:srgbClr val="122A52"/>
                </a:solidFill>
                <a:latin typeface="Helvetica"/>
              </a:rPr>
              <a:t> 5 filer, ét tydeligt symptom, Opus 4.7 — Claude finder *et* fix uanset hvor vag prompten er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5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500" b="1">
                <a:solidFill>
                  <a:srgbClr val="122A52"/>
                </a:solidFill>
                <a:latin typeface="Helvetica"/>
              </a:rPr>
              <a:t>På jeres codebases:</a:t>
            </a:r>
            <a:r>
              <a:rPr sz="1500" b="0">
                <a:solidFill>
                  <a:srgbClr val="122A52"/>
                </a:solidFill>
                <a:latin typeface="Helvetica"/>
              </a:rPr>
              <a:t> 100k+ linjer, 10+ års historik, DTO'er, mappere, migrations, uskrevne konventioner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5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500" b="1">
                <a:solidFill>
                  <a:srgbClr val="122A52"/>
                </a:solidFill>
                <a:latin typeface="Helvetica"/>
              </a:rPr>
              <a:t>Konsekvens af vag prompt:</a:t>
            </a:r>
            <a:r>
              <a:rPr sz="1500" b="0">
                <a:solidFill>
                  <a:srgbClr val="122A52"/>
                </a:solidFill>
                <a:latin typeface="Helvetica"/>
              </a:rPr>
              <a:t> forkert fil · glemt halvdel af kæden · konfliktende abstraktion · brudt konvention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5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500" b="1">
                <a:solidFill>
                  <a:srgbClr val="122A52"/>
                </a:solidFill>
                <a:latin typeface="Helvetica"/>
              </a:rPr>
              <a:t>Vi træner mønsteret HER</a:t>
            </a:r>
            <a:r>
              <a:rPr sz="1500" b="0">
                <a:solidFill>
                  <a:srgbClr val="122A52"/>
                </a:solidFill>
                <a:latin typeface="Helvetica"/>
              </a:rPr>
              <a:t> — så det sidder i fingrene mandag morgen i en rigtig PR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13 |</a:t>
            </a:r>
          </a:p>
        </p:txBody>
      </p:sp>
      <p:pic>
        <p:nvPicPr>
          <p:cNvPr id="10" name="Picture 9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327" y="1645920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6576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F5B81C"/>
                </a:solidFill>
                <a:latin typeface="Menlo"/>
              </a:rPr>
              <a:t>Punkt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2976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Helvetica"/>
              </a:rPr>
              <a:t>Hands-on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0292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C8D4E8"/>
                </a:solidFill>
                <a:latin typeface="Helvetica"/>
              </a:rPr>
              <a:t>20 minutter · par jer 2 og 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Hands-on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Prøv begge prompt-typer på samme opgave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972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7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700" b="0">
                <a:solidFill>
                  <a:srgbClr val="122A52"/>
                </a:solidFill>
                <a:latin typeface="Helvetica"/>
              </a:rPr>
              <a:t>Par jer op — gerne på tværs af teams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7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700" b="0">
                <a:solidFill>
                  <a:srgbClr val="122A52"/>
                </a:solidFill>
                <a:latin typeface="Helvetica"/>
              </a:rPr>
              <a:t>En af jer kører: </a:t>
            </a:r>
            <a:r>
              <a:rPr sz="1700" b="1">
                <a:solidFill>
                  <a:srgbClr val="122A52"/>
                </a:solidFill>
                <a:latin typeface="Helvetica"/>
              </a:rPr>
              <a:t>git clone</a:t>
            </a:r>
            <a:r>
              <a:rPr sz="1700" b="0">
                <a:solidFill>
                  <a:srgbClr val="122A52"/>
                </a:solidFill>
                <a:latin typeface="Helvetica"/>
              </a:rPr>
              <a:t> + </a:t>
            </a:r>
            <a:r>
              <a:rPr sz="1700" b="1">
                <a:solidFill>
                  <a:srgbClr val="122A52"/>
                </a:solidFill>
                <a:latin typeface="Helvetica"/>
              </a:rPr>
              <a:t>npm install</a:t>
            </a:r>
            <a:r>
              <a:rPr sz="1700" b="0">
                <a:solidFill>
                  <a:srgbClr val="122A52"/>
                </a:solidFill>
                <a:latin typeface="Helvetica"/>
              </a:rPr>
              <a:t> + </a:t>
            </a:r>
            <a:r>
              <a:rPr sz="1700" b="1">
                <a:solidFill>
                  <a:srgbClr val="122A52"/>
                </a:solidFill>
                <a:latin typeface="Helvetica"/>
              </a:rPr>
              <a:t>claude</a:t>
            </a:r>
            <a:r>
              <a:rPr sz="1700" b="0">
                <a:solidFill>
                  <a:srgbClr val="122A52"/>
                </a:solidFill>
                <a:latin typeface="Helvetica"/>
              </a:rPr>
              <a:t> i `demo/`-mappen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7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700" b="0">
                <a:solidFill>
                  <a:srgbClr val="122A52"/>
                </a:solidFill>
                <a:latin typeface="Helvetica"/>
              </a:rPr>
              <a:t>Vælg én opgave fra demoen (pris-bug, performance, eller favorit-knap)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7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700" b="0">
                <a:solidFill>
                  <a:srgbClr val="122A52"/>
                </a:solidFill>
                <a:latin typeface="Helvetica"/>
              </a:rPr>
              <a:t>Skriv først en </a:t>
            </a:r>
            <a:r>
              <a:rPr sz="1700" b="1">
                <a:solidFill>
                  <a:srgbClr val="122A52"/>
                </a:solidFill>
                <a:latin typeface="Helvetica"/>
              </a:rPr>
              <a:t>hurtig prompt</a:t>
            </a:r>
            <a:r>
              <a:rPr sz="1700" b="0">
                <a:solidFill>
                  <a:srgbClr val="122A52"/>
                </a:solidFill>
                <a:latin typeface="Helvetica"/>
              </a:rPr>
              <a:t> — som I ville skrive på en travl dag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7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700" b="1">
                <a:solidFill>
                  <a:srgbClr val="122A52"/>
                </a:solidFill>
                <a:latin typeface="Helvetica"/>
              </a:rPr>
              <a:t>git checkout .</a:t>
            </a:r>
            <a:r>
              <a:rPr sz="1700" b="0">
                <a:solidFill>
                  <a:srgbClr val="122A52"/>
                </a:solidFill>
                <a:latin typeface="Helvetica"/>
              </a:rPr>
              <a:t> og </a:t>
            </a:r>
            <a:r>
              <a:rPr sz="1700" b="1">
                <a:solidFill>
                  <a:srgbClr val="122A52"/>
                </a:solidFill>
                <a:latin typeface="Helvetica"/>
              </a:rPr>
              <a:t>/clear</a:t>
            </a:r>
            <a:r>
              <a:rPr sz="1700" b="0">
                <a:solidFill>
                  <a:srgbClr val="122A52"/>
                </a:solidFill>
                <a:latin typeface="Helvetica"/>
              </a:rPr>
              <a:t> for at rulle tilbage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7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700" b="0">
                <a:solidFill>
                  <a:srgbClr val="122A52"/>
                </a:solidFill>
                <a:latin typeface="Helvetica"/>
              </a:rPr>
              <a:t>Skriv så en prompt med </a:t>
            </a:r>
            <a:r>
              <a:rPr sz="1700" b="1">
                <a:solidFill>
                  <a:srgbClr val="122A52"/>
                </a:solidFill>
                <a:latin typeface="Helvetica"/>
              </a:rPr>
              <a:t>alle 4 byggeklodser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7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700" b="0">
                <a:solidFill>
                  <a:srgbClr val="122A52"/>
                </a:solidFill>
                <a:latin typeface="Helvetica"/>
              </a:rPr>
              <a:t>Sammenlign: hvad var forskellen? Hvilken ville I committe?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15 |</a:t>
            </a:r>
          </a:p>
        </p:txBody>
      </p:sp>
      <p:pic>
        <p:nvPicPr>
          <p:cNvPr id="8" name="Picture 7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7207" y="640080"/>
            <a:ext cx="1097280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192024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F5B81C"/>
                </a:solidFill>
                <a:latin typeface="Menlo"/>
              </a:rPr>
              <a:t>Hjemmeopgave inden torsdag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4688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Helvetica"/>
              </a:rPr>
              <a:t>Brug 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0" i="0">
                <a:solidFill>
                  <a:srgbClr val="C8D4E8"/>
                </a:solidFill>
                <a:latin typeface="Helvetica"/>
              </a:rPr>
              <a:t>på mindst én rigtig opgave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4297680"/>
            <a:ext cx="8531352" cy="1828800"/>
          </a:xfrm>
          <a:prstGeom prst="rect">
            <a:avLst/>
          </a:prstGeom>
          <a:solidFill>
            <a:srgbClr val="1B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94560" y="443484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5B81C"/>
                </a:solidFill>
                <a:latin typeface="Menlo"/>
              </a:rPr>
              <a:t>Tag med til torsdag: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4937760"/>
            <a:ext cx="7772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1000"/>
              </a:spcAft>
            </a:pPr>
            <a:r>
              <a:rPr sz="1800" b="1">
                <a:solidFill>
                  <a:srgbClr val="F5B81C"/>
                </a:solidFill>
                <a:latin typeface="Helvetica"/>
              </a:rPr>
              <a:t>■   </a:t>
            </a:r>
            <a:r>
              <a:rPr sz="1800" b="0">
                <a:solidFill>
                  <a:srgbClr val="FFFFFF"/>
                </a:solidFill>
                <a:latin typeface="Helvetica"/>
              </a:rPr>
              <a:t>Én prompt der virkede godt</a:t>
            </a:r>
          </a:p>
          <a:p>
            <a:pPr algn="l">
              <a:lnSpc>
                <a:spcPct val="140000"/>
              </a:lnSpc>
              <a:spcAft>
                <a:spcPts val="1000"/>
              </a:spcAft>
            </a:pPr>
            <a:r>
              <a:rPr sz="1800" b="1">
                <a:solidFill>
                  <a:srgbClr val="F5B81C"/>
                </a:solidFill>
                <a:latin typeface="Helvetica"/>
              </a:rPr>
              <a:t>■   </a:t>
            </a:r>
            <a:r>
              <a:rPr sz="1800" b="0">
                <a:solidFill>
                  <a:srgbClr val="FFFFFF"/>
                </a:solidFill>
                <a:latin typeface="Helvetica"/>
              </a:rPr>
              <a:t>Én der ikke gjorde — vi lærer mest af de fejlede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