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/>
          <a:p>
            <a:r>
              <a:t>─── SIG ───</a:t>
            </a:r>
          </a:p>
          <a:p>
            <a:r>
              <a:t>"Tænk i fire dele når du skriver en prompt:"</a:t>
            </a:r>
          </a:p>
          <a:p/>
          <a:p>
            <a:r>
              <a:t>"1. Kontekst — fx: 'Læs lib/propertyService.ts og components/PropertyCard.tsx'."</a:t>
            </a:r>
          </a:p>
          <a:p/>
          <a:p>
            <a:r>
              <a:t>"2. Opgave — konkret, fx: 'Lav en formatPrice-helper og brug den i begge filer'. Ikke 'der er noget med priserne...'."</a:t>
            </a:r>
          </a:p>
          <a:p/>
          <a:p>
            <a:r>
              <a:t>"3. Begrænsninger — når relevant. Fx: 'Rør intet andet. Ingen commit.' Hvis du bare vil have Claude til at forklare en fil, kan du droppe det her."</a:t>
            </a:r>
          </a:p>
          <a:p/>
          <a:p>
            <a:r>
              <a:t>"4. Forventet output — fx: 'Priser vises som 8.500.000 kr. alle 3 steder.'"</a:t>
            </a:r>
          </a:p>
          <a:p/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DIN skærm · 0:15–0:35 (ca. 20 min). Slidet med /prompts står på projektoren mens du kører hele demoen på din egen skærm (terminal + /demo).</a:t>
            </a:r>
          </a:p>
          <a:p/>
          <a:p>
            <a:r>
              <a:t>TJEKLISTE FØR DU SKIFTER: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/prompts er åben i en anden tab — det er der du kopierer prompts fra</a:t>
            </a:r>
          </a:p>
          <a:p>
            <a:r>
              <a:t>  □ claude --dangerously-skip-permissions kører i demo/-mappen</a:t>
            </a:r>
          </a:p>
          <a:p/>
          <a:p>
            <a:r>
              <a:t>─── SIG ───</a:t>
            </a:r>
          </a:p>
          <a:p>
            <a:r>
              <a:t>"Nu deler jeg min skærm. I ser min terminal og /demo i browseren."</a:t>
            </a:r>
          </a:p>
          <a:p/>
          <a:p>
            <a:r>
              <a:t>"Jeg har en /prompts-side åben hvor jeg kopierer prompts fra. Jeg gør det i denne rækkefølge:"</a:t>
            </a:r>
          </a:p>
          <a:p/>
          <a:p>
            <a:r>
              <a:t>"1) Vis bug'en — scroll ned ad /demo, klik på en bolig, søg demo@edc.dk i favoritter."</a:t>
            </a:r>
          </a:p>
          <a:p/>
          <a:p>
            <a:r>
              <a:t>"2) Kør den DÅRLIGE prompt — kopier fra /prompts, paste i Claude."</a:t>
            </a:r>
          </a:p>
          <a:p/>
          <a:p>
            <a:r>
              <a:t>"3) git checkout . + /clear for at rulle tilbage."</a:t>
            </a:r>
          </a:p>
          <a:p/>
          <a:p>
            <a:r>
              <a:t>"4) Kør den GODE prompt — samme opgave, men nu med kontekst."</a:t>
            </a:r>
          </a:p>
          <a:p/>
          <a:p>
            <a:r>
              <a:t>"Kig med på begge ændringer — vi samler op bagefter."</a:t>
            </a:r>
          </a:p>
          <a:p/>
          <a:p>
            <a:r>
              <a:t>─── GØR (mellem prompts) ───</a:t>
            </a:r>
          </a:p>
          <a:p>
            <a:r>
              <a:t>Refresh /demo i browseren mellem hver kørsel så de ser hvad der sker visuelt.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Korte instrukser · 0:35 — start. De skal i gang.</a:t>
            </a:r>
          </a:p>
          <a:p/>
          <a:p>
            <a:r>
              <a:t>─── SIG ───</a:t>
            </a:r>
          </a:p>
          <a:p>
            <a:r>
              <a:t>"Nu jer."</a:t>
            </a:r>
          </a:p>
          <a:p/>
          <a:p>
            <a:r>
              <a:t>"Solo på din egen maskine — du skal selv mærke forskellen i fingrene."</a:t>
            </a:r>
          </a:p>
          <a:p/>
          <a:p>
            <a:r>
              <a:t>"I har 20 minutter."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Mens de arbejder · 0:35–0:55. Gå rundt. Hjælp dem der sidder fast. Lyt efter en god 'aha'-bemærkning du kan bede dem dele bagefter.</a:t>
            </a:r>
          </a:p>
          <a:p/>
          <a:p>
            <a:r>
              <a:t>─── SIG (i starten) ───</a:t>
            </a:r>
          </a:p>
          <a:p>
            <a:r>
              <a:t>"Læs trinene på slidet: clone, npm install, claude i demo. Vælg én opgave fra demoen."</a:t>
            </a:r>
          </a:p>
          <a:p/>
          <a:p>
            <a:r>
              <a:t>"Det vigtigste: prøv BEGGE prompts — ikke bare den gode. Læg mærke til forskellen."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SIG (med 5 min tilbage) ───</a:t>
            </a:r>
          </a:p>
          <a:p>
            <a:r>
              <a:t>"Saml jer — én indsigt højt fra hver. Den der overraskede jer mest."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Afslutning · 0:55–1:00. Hjemmeopgave nem. Bekræft næste præsentant igen ved navn så de ved det er reelt.</a:t>
            </a:r>
          </a:p>
          <a:p/>
          <a:p>
            <a:r>
              <a:t>─── SIG ───</a:t>
            </a:r>
          </a:p>
          <a:p>
            <a:r>
              <a:t>"Hjemmeopgaven er nem.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gjorde."</a:t>
            </a:r>
          </a:p>
          <a:p/>
          <a:p>
            <a:r>
              <a:t>"Vi starter session 2 med at dele dem. Vi lærer mest af de fejlede prompts."</a:t>
            </a:r>
          </a:p>
          <a:p/>
          <a:p>
            <a:r>
              <a:t>"[Navn] tager session 2 om Plan mode. Jeg sender slide-skabelon og pre-work-video senest mandag."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6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6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6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20 minutter · solo på din egen maskine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Prøv begge prompt-typer på samme opgave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9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900" b="1">
                <a:solidFill>
                  <a:srgbClr val="122A52"/>
                </a:solidFill>
                <a:latin typeface="Helvetica"/>
              </a:rPr>
              <a:t>git clone</a:t>
            </a:r>
            <a:r>
              <a:rPr sz="1900" b="0">
                <a:solidFill>
                  <a:srgbClr val="122A52"/>
                </a:solidFill>
                <a:latin typeface="Helvetica"/>
              </a:rPr>
              <a:t> + </a:t>
            </a:r>
            <a:r>
              <a:rPr sz="1900" b="1">
                <a:solidFill>
                  <a:srgbClr val="122A52"/>
                </a:solidFill>
                <a:latin typeface="Helvetica"/>
              </a:rPr>
              <a:t>npm install</a:t>
            </a:r>
            <a:r>
              <a:rPr sz="1900" b="0">
                <a:solidFill>
                  <a:srgbClr val="122A52"/>
                </a:solidFill>
                <a:latin typeface="Helvetica"/>
              </a:rPr>
              <a:t> + </a:t>
            </a:r>
            <a:r>
              <a:rPr sz="1900" b="1">
                <a:solidFill>
                  <a:srgbClr val="122A52"/>
                </a:solidFill>
                <a:latin typeface="Helvetica"/>
              </a:rPr>
              <a:t>claude</a:t>
            </a:r>
            <a:r>
              <a:rPr sz="1900" b="0">
                <a:solidFill>
                  <a:srgbClr val="122A52"/>
                </a:solidFill>
                <a:latin typeface="Helvetica"/>
              </a:rPr>
              <a:t> i `demo/`-mappen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9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900" b="0">
                <a:solidFill>
                  <a:srgbClr val="122A52"/>
                </a:solidFill>
                <a:latin typeface="Helvetica"/>
              </a:rPr>
              <a:t>Vælg én opgave fra demoen (pris-bug, performance, eller favorit-knap)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9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900" b="0">
                <a:solidFill>
                  <a:srgbClr val="122A52"/>
                </a:solidFill>
                <a:latin typeface="Helvetica"/>
              </a:rPr>
              <a:t>Skriv først en </a:t>
            </a:r>
            <a:r>
              <a:rPr sz="1900" b="1">
                <a:solidFill>
                  <a:srgbClr val="122A52"/>
                </a:solidFill>
                <a:latin typeface="Helvetica"/>
              </a:rPr>
              <a:t>hurtig prompt</a:t>
            </a:r>
            <a:r>
              <a:rPr sz="1900" b="0">
                <a:solidFill>
                  <a:srgbClr val="122A52"/>
                </a:solidFill>
                <a:latin typeface="Helvetica"/>
              </a:rPr>
              <a:t> — som du ville skrive på en travl dag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9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900" b="1">
                <a:solidFill>
                  <a:srgbClr val="122A52"/>
                </a:solidFill>
                <a:latin typeface="Helvetica"/>
              </a:rPr>
              <a:t>git checkout .</a:t>
            </a:r>
            <a:r>
              <a:rPr sz="1900" b="0">
                <a:solidFill>
                  <a:srgbClr val="122A52"/>
                </a:solidFill>
                <a:latin typeface="Helvetica"/>
              </a:rPr>
              <a:t> og </a:t>
            </a:r>
            <a:r>
              <a:rPr sz="1900" b="1">
                <a:solidFill>
                  <a:srgbClr val="122A52"/>
                </a:solidFill>
                <a:latin typeface="Helvetica"/>
              </a:rPr>
              <a:t>/clear</a:t>
            </a:r>
            <a:r>
              <a:rPr sz="1900" b="0">
                <a:solidFill>
                  <a:srgbClr val="122A52"/>
                </a:solidFill>
                <a:latin typeface="Helvetica"/>
              </a:rPr>
              <a:t> for at rulle tilbage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9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900" b="0">
                <a:solidFill>
                  <a:srgbClr val="122A52"/>
                </a:solidFill>
                <a:latin typeface="Helvetica"/>
              </a:rPr>
              <a:t>Skriv så en prompt med </a:t>
            </a:r>
            <a:r>
              <a:rPr sz="1900" b="1">
                <a:solidFill>
                  <a:srgbClr val="122A52"/>
                </a:solidFill>
                <a:latin typeface="Helvetica"/>
              </a:rPr>
              <a:t>alle 4 byggeklodser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12 |</a:t>
            </a:r>
          </a:p>
        </p:txBody>
      </p:sp>
      <p:pic>
        <p:nvPicPr>
          <p:cNvPr id="8" name="Picture 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6400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F5B81C"/>
                </a:solidFill>
                <a:latin typeface="Menlo"/>
              </a:rPr>
              <a:t>Hjemmeopgave inden torsdag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Brug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C8D4E8"/>
                </a:solidFill>
                <a:latin typeface="Helvetica"/>
              </a:rPr>
              <a:t>på mindst én rigtig opgave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297680"/>
            <a:ext cx="8531352" cy="1828800"/>
          </a:xfrm>
          <a:prstGeom prst="rect">
            <a:avLst/>
          </a:prstGeom>
          <a:solidFill>
            <a:srgbClr val="1B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44348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5B81C"/>
                </a:solidFill>
                <a:latin typeface="Menlo"/>
              </a:rPr>
              <a:t>Tag med til torsdag: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937760"/>
            <a:ext cx="7772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prompt der virkede godt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der ikke gjorde — vi lærer mest af de fejlede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