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Velkomst · 0:00–0:05. Første øjeblik — bare rammesæt. Vent ikke for længe; kom videre.</a:t>
            </a:r>
          </a:p>
          <a:p/>
          <a:p>
            <a:r>
              <a:t>─── SIG ───</a:t>
            </a:r>
          </a:p>
          <a:p>
            <a:r>
              <a:t>"Velkommen. Jeg er Matias, og det her er Michael. Vi er facilitatorer for de næste 5 uger."</a:t>
            </a:r>
          </a:p>
          <a:p/>
          <a:p>
            <a:r>
              <a:t>"Det her er ikke et kursus hvor I lytter til os. Det er en træningslejr hvor I lærer ved at gøre — og fra session 2 også ved at undervise jeres kollegaer."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Hurtigt overblik · 0:05–0:07. Peg på de fremhævede (blå) felter — det er de tre hoveddele. Ingen pause på en time, men det går stærkt.</a:t>
            </a:r>
          </a:p>
          <a:p/>
          <a:p>
            <a:r>
              <a:t>─── SIG ───</a:t>
            </a:r>
          </a:p>
          <a:p>
            <a:r>
              <a:t>"Lige om lidt fortæller jeg lidt om hvordan de næste 5 uger ser ud."</a:t>
            </a:r>
          </a:p>
          <a:p/>
          <a:p>
            <a:r>
              <a:t>"Så går vi i terminalen og laver en live demo."</a:t>
            </a:r>
          </a:p>
          <a:p/>
          <a:p>
            <a:r>
              <a:t>"Og så er det jer der skal kode — solo på jeres egen maskine."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Vigtigste pointe i dag · 0:07–0:10. Hvis de bare lytter, lærer de ingenting. Hvis de underviser hinanden, sidder det fast.</a:t>
            </a:r>
          </a:p>
          <a:p/>
          <a:p>
            <a:r>
              <a:t>─── SIG ───</a:t>
            </a:r>
          </a:p>
          <a:p>
            <a:r>
              <a:t>"Det her er den vigtigste pointe i dag: Michael og jeg er facilitatorer, ikke eksperter."</a:t>
            </a:r>
          </a:p>
          <a:p/>
          <a:p>
            <a:r>
              <a:t>"Jeg ved ikke nødvendigvis mere end jer om Claude Code om 5 uger. Det her er et hold der lærer sammen."</a:t>
            </a:r>
          </a:p>
          <a:p/>
          <a:p>
            <a:r>
              <a:t>"Fra session 2 er det én af jer der præsenterer dagens emne. Vi hjælper med slides ugen før, så ingen står alene med det."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Akavet øjeblik · 0:10–0:13. Stil spørgsmålet og hold mund. Lad stilheden virke. Hvis ingen melder sig efter 10 sek: vælg én du ved godt har lyst — eller én der ser frisk ud.</a:t>
            </a:r>
          </a:p>
          <a:p/>
          <a:p>
            <a:r>
              <a:t>─── SIG ───</a:t>
            </a:r>
          </a:p>
          <a:p>
            <a:r>
              <a:t>"Hvem vil tage session 2 om Plan mode? Det er torsdag, jeg sender slide-skabelon og pre-work-video senest dagen før."</a:t>
            </a:r>
          </a:p>
          <a:p/>
          <a:p>
            <a:r>
              <a:t>[Vent. Tæl til 10 i hovedet.]</a:t>
            </a:r>
          </a:p>
          <a:p/>
          <a:p>
            <a:r>
              <a:t>Hvis ingen melder sig:</a:t>
            </a:r>
          </a:p>
          <a:p>
            <a:r>
              <a:t>"[Navn] — vil du tage den?"</a:t>
            </a:r>
          </a:p>
          <a:p/>
          <a:p>
            <a:r>
              <a:t>─── GØR ───</a:t>
            </a:r>
          </a:p>
          <a:p>
            <a:r>
              <a:t>Når én melder sig: TAK højt. Det sætter normen for resten af forløbet.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Saml i ÉN sætning · 0:13–0:15. Sig den langsomt. Det er hele dagen i én linje.</a:t>
            </a:r>
          </a:p>
          <a:p/>
          <a:p>
            <a:r>
              <a:t>─── SIG ───</a:t>
            </a:r>
          </a:p>
          <a:p>
            <a:r>
              <a:t>"En dårlig prompt giver generisk kode."</a:t>
            </a:r>
          </a:p>
          <a:p/>
          <a:p>
            <a:r>
              <a:t>"En god prompt giver produktionsklar kode."</a:t>
            </a:r>
          </a:p>
          <a:p/>
          <a:p>
            <a:r>
              <a:t>"Forskellen er hvor præcist du beskriver opgaven for Claude. Det er det vi træner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Mønsteret · 0:15–0:18. Det her skal de kunne udenad efter session 1. Læs dem op én af gangen og giv et lille eksempel for hver. Vigtigt: BEGRÆNSNINGER er markeret "når relevant" — det er ikke nødvendigt for hver prompt (fx ikke for "forklar denne fil"), men ved kode-ændringer er det guld værd.</a:t>
            </a:r>
          </a:p>
          <a:p/>
          <a:p>
            <a:r>
              <a:t>─── SIG ───</a:t>
            </a:r>
          </a:p>
          <a:p>
            <a:r>
              <a:t>"Tænk i fire dele når du skriver en prompt:"</a:t>
            </a:r>
          </a:p>
          <a:p/>
          <a:p>
            <a:r>
              <a:t>"1. Kontekst — fx: 'Læs lib/propertyService.ts og components/PropertyCard.tsx'."</a:t>
            </a:r>
          </a:p>
          <a:p/>
          <a:p>
            <a:r>
              <a:t>"2. Opgave — konkret, fx: 'Lav en formatPrice-helper og brug den i begge filer'. Ikke 'der er noget med priserne...'."</a:t>
            </a:r>
          </a:p>
          <a:p/>
          <a:p>
            <a:r>
              <a:t>"3. Begrænsninger — når relevant. Fx: 'Rør intet andet. Ingen commit.' Hvis du bare vil have Claude til at forklare en fil, kan du droppe det her."</a:t>
            </a:r>
          </a:p>
          <a:p/>
          <a:p>
            <a:r>
              <a:t>"4. Forventet output — fx: 'Priser vises som 8.500.000 kr. alle 3 steder.'"</a:t>
            </a:r>
          </a:p>
          <a:p/>
          <a:p>
            <a:r>
              <a:t>"Vi vender tilbage til mønsteret hver eneste session de næste 5 uger."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Tryghed fra dag 1 · 0:18–0:20. Vi går i dybden i session 3, men de skal vide om det FRA i dag. Pointe: hvis de aldrig kan rulle tilbage, tør de aldrig prøve noget nyt.</a:t>
            </a:r>
          </a:p>
          <a:p/>
          <a:p>
            <a:r>
              <a:t>─── SIG ───</a:t>
            </a:r>
          </a:p>
          <a:p>
            <a:r>
              <a:t>"Når Claude laver noget I fortryder — eller koden går i sort — så tryk Esc to gange."</a:t>
            </a:r>
          </a:p>
          <a:p/>
          <a:p>
            <a:r>
              <a:t>"Der kommer en menu hvor I kan rulle tilbage til ethvert tidligere punkt i samtalen. Filerne, conversation, eller begge dele."</a:t>
            </a:r>
          </a:p>
          <a:p/>
          <a:p>
            <a:r>
              <a:t>"Det er det her der gør det trygt at lade Claude prøve noget vildt."</a:t>
            </a:r>
          </a:p>
          <a:p/>
          <a:p>
            <a:r>
              <a:t>"I må gerne bruge det fra første prompt I skriver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Skift til DIN skærm · 0:15–0:35 (ca. 20 min). Slidet med /prompts står på projektoren mens du kører hele demoen på din egen skærm (terminal + /demo).</a:t>
            </a:r>
          </a:p>
          <a:p/>
          <a:p>
            <a:r>
              <a:t>TJEKLISTE FØR DU SKIFTER:</a:t>
            </a:r>
          </a:p>
          <a:p>
            <a:r>
              <a:t>  □ git status er clean</a:t>
            </a:r>
          </a:p>
          <a:p>
            <a:r>
              <a:t>  □ /demo er åben i browseren med USD-priser synlige</a:t>
            </a:r>
          </a:p>
          <a:p>
            <a:r>
              <a:t>  □ /prompts er åben i en anden tab — det er der du kopierer prompts fra</a:t>
            </a:r>
          </a:p>
          <a:p>
            <a:r>
              <a:t>  □ claude --dangerously-skip-permissions kører i demo/-mappen</a:t>
            </a:r>
          </a:p>
          <a:p/>
          <a:p>
            <a:r>
              <a:t>─── SIG ───</a:t>
            </a:r>
          </a:p>
          <a:p>
            <a:r>
              <a:t>"Nu deler jeg min skærm. I ser min terminal og /demo i browseren."</a:t>
            </a:r>
          </a:p>
          <a:p/>
          <a:p>
            <a:r>
              <a:t>"Jeg har en /prompts-side åben hvor jeg kopierer prompts fra. Jeg gør det i denne rækkefølge:"</a:t>
            </a:r>
          </a:p>
          <a:p/>
          <a:p>
            <a:r>
              <a:t>"1) Vis bug'en — scroll ned ad /demo, klik på en bolig, søg demo@edc.dk i favoritter."</a:t>
            </a:r>
          </a:p>
          <a:p/>
          <a:p>
            <a:r>
              <a:t>"2) Kør den DÅRLIGE prompt — kopier fra /prompts, paste i Claude."</a:t>
            </a:r>
          </a:p>
          <a:p/>
          <a:p>
            <a:r>
              <a:t>"3) git checkout . + /clear for at rulle tilbage."</a:t>
            </a:r>
          </a:p>
          <a:p/>
          <a:p>
            <a:r>
              <a:t>"4) Kør den GODE prompt — samme opgave, men nu med kontekst."</a:t>
            </a:r>
          </a:p>
          <a:p/>
          <a:p>
            <a:r>
              <a:t>"Kig med på begge ændringer — vi samler op bagefter."</a:t>
            </a:r>
          </a:p>
          <a:p/>
          <a:p>
            <a:r>
              <a:t>─── GØR (mellem prompts) ───</a:t>
            </a:r>
          </a:p>
          <a:p>
            <a:r>
              <a:t>Refresh /demo i browseren mellem hver kørsel så de ser hvad der sker visuelt.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Sig det højt · 0:31–0:33. Det her er momentet hvor du SKAL sige det højt — ikke bare lade slidet tale. Det er hele dagen i én sætning.</a:t>
            </a:r>
          </a:p>
          <a:p/>
          <a:p>
            <a:r>
              <a:t>─── SIG ───</a:t>
            </a:r>
          </a:p>
          <a:p>
            <a:r>
              <a:t>"Begge fixes virker visuelt — kr. står overalt. Men kig på koden:"</a:t>
            </a:r>
          </a:p>
          <a:p/>
          <a:p>
            <a:r>
              <a:t>"Den dårlige duplikerede logikken 3 steder."</a:t>
            </a:r>
          </a:p>
          <a:p/>
          <a:p>
            <a:r>
              <a:t>"Den gode lavede én helper, brugt 3 steder."</a:t>
            </a:r>
          </a:p>
          <a:p/>
          <a:p>
            <a:r>
              <a:t>"Om 3 måneder, når en designer beder om at vise øre i favorit-listen, er det den forskel der bestemmer om I bruger 5 minutter eller 30."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Forsikring · 0:33–0:35. Det her slide er forsikring mod den deltager der siger "jamen den dårlige fungerede jo fint". Anerkend det direkte — det er ærligt.</a:t>
            </a:r>
          </a:p>
          <a:p/>
          <a:p>
            <a:r>
              <a:t>─── SIG ───</a:t>
            </a:r>
          </a:p>
          <a:p>
            <a:r>
              <a:t>"I har ret. På denne lille demo med Opus 4.7 er forskellen subtil — Claude er smart nok til at finde et fix der virker, selv når prompten er vag."</a:t>
            </a:r>
          </a:p>
          <a:p/>
          <a:p>
            <a:r>
              <a:t>"Men i jeres rigtige projekter — 100k+ linjer, DTO'er, mappere, migrations, konventioner der ikke er skrevet ned — eksploderer det."</a:t>
            </a:r>
          </a:p>
          <a:p/>
          <a:p>
            <a:r>
              <a:t>"En vag prompt rammer den forkerte fil, glemmer halvdelen af kæden, eller introducerer et abstraktionslag der konflikter med jeres eksisterende."</a:t>
            </a:r>
          </a:p>
          <a:p/>
          <a:p>
            <a:r>
              <a:t>"Vi træner mønsteret her hvor det er sikkert at fejle — så det sidder i fingrene når I er midt i en rigtig PR mandag morgen."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Korte instrukser · 0:35 — start. De skal i gang.</a:t>
            </a:r>
          </a:p>
          <a:p/>
          <a:p>
            <a:r>
              <a:t>─── SIG ───</a:t>
            </a:r>
          </a:p>
          <a:p>
            <a:r>
              <a:t>"Nu jer."</a:t>
            </a:r>
          </a:p>
          <a:p/>
          <a:p>
            <a:r>
              <a:t>"Solo på din egen maskine — du skal selv mærke forskellen i fingrene."</a:t>
            </a:r>
          </a:p>
          <a:p/>
          <a:p>
            <a:r>
              <a:t>"I har 20 minutter."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Mens de arbejder · 0:35–0:55. Gå rundt. Hjælp dem der sidder fast. Lyt efter en god 'aha'-bemærkning du kan bede dem dele bagefter.</a:t>
            </a:r>
          </a:p>
          <a:p/>
          <a:p>
            <a:r>
              <a:t>─── SIG (i starten) ───</a:t>
            </a:r>
          </a:p>
          <a:p>
            <a:r>
              <a:t>"Læs trinene på slidet: clone, npm install, claude i demo. Vælg én opgave fra demoen."</a:t>
            </a:r>
          </a:p>
          <a:p/>
          <a:p>
            <a:r>
              <a:t>"Det vigtigste: prøv BEGGE prompts — ikke bare den gode. Læg mærke til forskellen."</a:t>
            </a:r>
          </a:p>
          <a:p/>
          <a:p>
            <a:r>
              <a:t>"Hvis du sidder fast, ræk hånden op — vi går rundt."</a:t>
            </a:r>
          </a:p>
          <a:p/>
          <a:p>
            <a:r>
              <a:t>─── SIG (med 5 min tilbage) ───</a:t>
            </a:r>
          </a:p>
          <a:p>
            <a:r>
              <a:t>"Saml jer — én indsigt højt fra hver. Den der overraskede jer mest."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─── LÆS ───</a:t>
            </a:r>
          </a:p>
          <a:p>
            <a:r>
              <a:t>Afslutning · 0:55–1:00. Hjemmeopgave nem. Bekræft næste præsentant igen ved navn så de ved det er reelt.</a:t>
            </a:r>
          </a:p>
          <a:p/>
          <a:p>
            <a:r>
              <a:t>─── SIG ───</a:t>
            </a:r>
          </a:p>
          <a:p>
            <a:r>
              <a:t>"Hjemmeopgaven er nem. Brug Claude Code på MINDST én rigtig opgave inden torsdag — i et af jeres rigtige projekter, ikke demoen."</a:t>
            </a:r>
          </a:p>
          <a:p/>
          <a:p>
            <a:r>
              <a:t>"Tag to prompts med til torsdag: én der virkede godt, og én der ikke gjorde."</a:t>
            </a:r>
          </a:p>
          <a:p/>
          <a:p>
            <a:r>
              <a:t>"Vi starter session 2 med at dele dem. Vi lærer mest af de fejlede prompts."</a:t>
            </a:r>
          </a:p>
          <a:p/>
          <a:p>
            <a:r>
              <a:t>"[Navn] tager session 2 om Plan mode. Jeg sender slide-skabelon og pre-work-video senest mandag."</a:t>
            </a:r>
          </a:p>
          <a:p/>
          <a:p>
            <a:r>
              <a:t>"Tak for i dag."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Session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Gode vs. dårlige prompts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Kickoff og fundamentet · EDC ×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6400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122A52"/>
                </a:solidFill>
                <a:latin typeface="Helvetica"/>
              </a:rPr>
              <a:t>Dagsorden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429768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0:00–0:05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7480" y="2011680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Velkomst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87752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0:05–0:15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80" y="2587752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Foredrag — sådan kører de næste 5 uger + vælg næste præsentant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63824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0:15–0:35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3163824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Live demo — samme opgave, dårlig vs. god 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739896"/>
            <a:ext cx="182880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0:35–0:55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7480" y="3739896"/>
            <a:ext cx="8778240" cy="50292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Hands-on — solo på din egen maskine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315968"/>
            <a:ext cx="182880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0:55–1:00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4315968"/>
            <a:ext cx="8778240" cy="502920"/>
          </a:xfrm>
          <a:prstGeom prst="rect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/>
          <a:lstStyle/>
          <a:p>
            <a:pPr algn="l"/>
            <a:r>
              <a:rPr sz="1500" b="1">
                <a:solidFill>
                  <a:srgbClr val="FFFFFF"/>
                </a:solidFill>
                <a:latin typeface="Helvetica"/>
              </a:rPr>
              <a:t>Del indsigter + take-home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2 |</a:t>
            </a:r>
          </a:p>
        </p:txBody>
      </p:sp>
      <p:pic>
        <p:nvPicPr>
          <p:cNvPr id="18" name="Picture 1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Vores rolle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Facilitatorer, ikke eksperter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2880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46888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214884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Vi er facilitatorer hele forløbet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69748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Michael og jeg står for </a:t>
            </a:r>
            <a:r>
              <a:rPr sz="1600" b="1">
                <a:solidFill>
                  <a:srgbClr val="122A52"/>
                </a:solidFill>
                <a:latin typeface="Helvetica"/>
              </a:rPr>
              <a:t>selve faciliteringen</a:t>
            </a:r>
            <a:r>
              <a:rPr sz="1600" b="0">
                <a:solidFill>
                  <a:srgbClr val="122A52"/>
                </a:solidFill>
                <a:latin typeface="Helvetica"/>
              </a:rPr>
              <a:t> alle 5 uger. Vi er her for at gøre det trygt og holde tråden — det her er et hold der lærer sammen.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023360"/>
            <a:ext cx="11091672" cy="19202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4663440"/>
            <a:ext cx="640080" cy="64008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4343400"/>
            <a:ext cx="944575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I underviser hinanden fra session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892040"/>
            <a:ext cx="9445752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122A52"/>
                </a:solidFill>
                <a:latin typeface="Helvetica"/>
              </a:rPr>
              <a:t>Fra session 2 er det </a:t>
            </a:r>
            <a:r>
              <a:rPr sz="1600" b="1">
                <a:solidFill>
                  <a:srgbClr val="122A52"/>
                </a:solidFill>
                <a:latin typeface="Helvetica"/>
              </a:rPr>
              <a:t>én deltager fra holdet</a:t>
            </a:r>
            <a:r>
              <a:rPr sz="1600" b="0">
                <a:solidFill>
                  <a:srgbClr val="122A52"/>
                </a:solidFill>
                <a:latin typeface="Helvetica"/>
              </a:rPr>
              <a:t> der præsenterer dagens emne. Vi hjælper med slides ugen før, så ingen står alene med det. </a:t>
            </a:r>
            <a:r>
              <a:rPr sz="1600" b="1">
                <a:solidFill>
                  <a:srgbClr val="122A52"/>
                </a:solidFill>
                <a:latin typeface="Helvetica"/>
              </a:rPr>
              <a:t>Pointe:</a:t>
            </a:r>
            <a:r>
              <a:rPr sz="1600" b="0">
                <a:solidFill>
                  <a:srgbClr val="122A52"/>
                </a:solidFill>
                <a:latin typeface="Helvetica"/>
              </a:rPr>
              <a:t> I lærer det bedst ved at undervise det.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3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Nu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Vælg næste præsentant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11091672" cy="3200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914400" y="2377440"/>
            <a:ext cx="1005840" cy="1005840"/>
          </a:xfrm>
          <a:prstGeom prst="star5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77440" y="228600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5B81C"/>
                </a:solidFill>
                <a:latin typeface="Menlo"/>
              </a:rPr>
              <a:t>Hvem vil tage session 2?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2697480"/>
            <a:ext cx="9144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22A52"/>
                </a:solidFill>
                <a:latin typeface="Helvetica"/>
              </a:rPr>
              <a:t>Plan mode vs. ikke plan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324612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56B8A"/>
                </a:solidFill>
                <a:latin typeface="Helvetica"/>
              </a:rPr>
              <a:t>Torsdag · uge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3931920"/>
            <a:ext cx="9144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122A52"/>
                </a:solidFill>
                <a:latin typeface="Helvetica"/>
              </a:rPr>
              <a:t>Jeg sender slide-skabelon og pre-work-video </a:t>
            </a:r>
            <a:r>
              <a:rPr sz="1500" b="1">
                <a:solidFill>
                  <a:srgbClr val="122A52"/>
                </a:solidFill>
                <a:latin typeface="Helvetica"/>
              </a:rPr>
              <a:t>senest dagen før</a:t>
            </a:r>
            <a:r>
              <a:rPr sz="1500" b="0">
                <a:solidFill>
                  <a:srgbClr val="122A52"/>
                </a:solidFill>
                <a:latin typeface="Helvetica"/>
              </a:rPr>
              <a:t>, så du står ikke alene med det. Hvis ingen melder sig, vælger vi én — og vi gentager øvelsen i starten af hver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4 |</a:t>
            </a:r>
          </a:p>
        </p:txBody>
      </p:sp>
      <p:pic>
        <p:nvPicPr>
          <p:cNvPr id="13" name="Picture 1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Dagens kerne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En prompt er alt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556B8A"/>
                </a:solidFill>
                <a:latin typeface="Helvetica"/>
              </a:rPr>
              <a:t>En dårlig prompt giver generisk kode.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111556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22A52"/>
                </a:solidFill>
                <a:latin typeface="Helvetica"/>
              </a:rPr>
              <a:t>En god prompt giver produktionsklar kode.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5029200"/>
            <a:ext cx="11091672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122A52"/>
                </a:solidFill>
                <a:latin typeface="Helvetica"/>
              </a:rPr>
              <a:t>Forskellen er hvor præcist du beskriver opgaven.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5 |</a:t>
            </a:r>
          </a:p>
        </p:txBody>
      </p:sp>
      <p:pic>
        <p:nvPicPr>
          <p:cNvPr id="11" name="Picture 10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De 4 byggeklodser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Tænk i fire dele når du skriver en prompt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60120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Kontekst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Hvilke filer skal
Claude læse?</a:t>
            </a:r>
          </a:p>
        </p:txBody>
      </p:sp>
      <p:sp>
        <p:nvSpPr>
          <p:cNvPr id="8" name="Rectangle 7"/>
          <p:cNvSpPr/>
          <p:nvPr/>
        </p:nvSpPr>
        <p:spPr>
          <a:xfrm>
            <a:off x="3410712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776472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85032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Opgave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vil du have
gjort? Fx "Lav en
helper", "Tilføj knap".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92824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98664" y="25146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122A52"/>
                </a:solidFill>
                <a:latin typeface="Helvetica"/>
              </a:rPr>
              <a:t>Når relevant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1384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Begrænsninger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må Claude
IKKE røre?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43416" y="2011680"/>
            <a:ext cx="2697480" cy="329184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09176" y="2377440"/>
            <a:ext cx="548640" cy="548640"/>
          </a:xfrm>
          <a:prstGeom prst="ellipse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17736" y="320040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22A52"/>
                </a:solidFill>
                <a:latin typeface="Helvetica"/>
              </a:rPr>
              <a:t>Forventet output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17736" y="3840480"/>
            <a:ext cx="2148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22A52"/>
                </a:solidFill>
                <a:latin typeface="Helvetica"/>
              </a:rPr>
              <a:t>Hvad ser "done"
ud som?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556B8A"/>
                </a:solidFill>
                <a:latin typeface="Menlo"/>
              </a:rPr>
              <a:t>[Kontekst] + [Opgave] + [Begrænsninger] + [Forventet output]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6 |</a:t>
            </a:r>
          </a:p>
        </p:txBody>
      </p:sp>
      <p:pic>
        <p:nvPicPr>
          <p:cNvPr id="25" name="Picture 2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Tryghed fra start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Esc · Esc — undo for hele sessionen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11680"/>
            <a:ext cx="4114800" cy="2286000"/>
          </a:xfrm>
          <a:prstGeom prst="roundRect">
            <a:avLst>
              <a:gd name="adj" fmla="val 8000"/>
            </a:avLst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2011680"/>
            <a:ext cx="41148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1" i="0">
                <a:solidFill>
                  <a:srgbClr val="FFFFFF"/>
                </a:solidFill>
                <a:latin typeface="Menlo"/>
              </a:rPr>
              <a:t>Esc · Esc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210312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Tryk </a:t>
            </a:r>
            <a:r>
              <a:rPr sz="1800" b="1">
                <a:solidFill>
                  <a:srgbClr val="122A52"/>
                </a:solidFill>
                <a:latin typeface="Helvetica"/>
              </a:rPr>
              <a:t>Esc</a:t>
            </a:r>
            <a:r>
              <a:rPr sz="1800" b="0">
                <a:solidFill>
                  <a:srgbClr val="122A52"/>
                </a:solidFill>
                <a:latin typeface="Helvetica"/>
              </a:rPr>
              <a:t> to gange → rewind-menu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et tidligere step → filerne ruller tilbage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Vi går i dybden i </a:t>
            </a:r>
            <a:r>
              <a:rPr sz="1800" b="1">
                <a:solidFill>
                  <a:srgbClr val="122A52"/>
                </a:solidFill>
                <a:latin typeface="Helvetica"/>
              </a:rPr>
              <a:t>session 3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men brug det fra dag 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754880"/>
            <a:ext cx="11091672" cy="1188720"/>
          </a:xfrm>
          <a:prstGeom prst="rect">
            <a:avLst/>
          </a:prstGeom>
          <a:solidFill>
            <a:srgbClr val="EEF1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122A52"/>
                </a:solidFill>
                <a:latin typeface="Helvetica"/>
              </a:rPr>
              <a:t>Det er det her der gør det </a:t>
            </a:r>
            <a:r>
              <a:rPr sz="1800" b="1">
                <a:solidFill>
                  <a:srgbClr val="122A52"/>
                </a:solidFill>
                <a:latin typeface="Helvetica"/>
              </a:rPr>
              <a:t>trygt</a:t>
            </a:r>
            <a:r>
              <a:rPr sz="1800" b="0">
                <a:solidFill>
                  <a:srgbClr val="122A52"/>
                </a:solidFill>
                <a:latin typeface="Helvetica"/>
              </a:rPr>
              <a:t> at lade Claude prøve noget vildt. Hvis I aldrig kan rulle tilbage, tør I aldrig prøve noget nyt.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7 |</a:t>
            </a:r>
          </a:p>
        </p:txBody>
      </p:sp>
      <p:pic>
        <p:nvPicPr>
          <p:cNvPr id="12" name="Picture 11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291840"/>
            <a:ext cx="1219169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400" b="1" i="0">
                <a:solidFill>
                  <a:srgbClr val="FFFFFF"/>
                </a:solidFill>
                <a:latin typeface="Helvetica"/>
              </a:rPr>
              <a:t>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C8D4E8"/>
                </a:solidFill>
                <a:latin typeface="Helvetica"/>
              </a:rPr>
              <a:t>Samme opgave — dårlig prompt vs. god prompt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Pointen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Begge fixes virker visuelt — kun den ene efterlader sund kode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011680"/>
            <a:ext cx="5349240" cy="3657600"/>
          </a:xfrm>
          <a:prstGeom prst="rect">
            <a:avLst/>
          </a:prstGeom>
          <a:solidFill>
            <a:srgbClr val="FADC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8B1F1F"/>
                </a:solidFill>
                <a:latin typeface="Helvetica"/>
              </a:rPr>
              <a:t>DÅRLIG PROMPT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3 inline-kopier af samme logik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DRY brudt — ændring kræver 3 filer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Forskelligt resultat hver kørsel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8B1F1F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Nogle gange ufuldstændig 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2011680"/>
            <a:ext cx="5349240" cy="3657600"/>
          </a:xfrm>
          <a:prstGeom prst="rect">
            <a:avLst/>
          </a:prstGeom>
          <a:solidFill>
            <a:srgbClr val="D7EC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286000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532D"/>
                </a:solidFill>
                <a:latin typeface="Helvetica"/>
              </a:rPr>
              <a:t>GOD PROMPT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788920"/>
            <a:ext cx="4617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22A52"/>
                </a:solidFill>
                <a:latin typeface="Helvetica"/>
              </a:rPr>
              <a:t>1 helper, brugt 3 steder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840480"/>
            <a:ext cx="4617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Ét sted at ændre fremover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Deterministisk — samme resultat hver gang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500" b="1">
                <a:solidFill>
                  <a:srgbClr val="14532D"/>
                </a:solidFill>
                <a:latin typeface="Helvetica"/>
              </a:rPr>
              <a:t>■   </a:t>
            </a:r>
            <a:r>
              <a:rPr sz="1500" b="0">
                <a:solidFill>
                  <a:srgbClr val="122A52"/>
                </a:solidFill>
                <a:latin typeface="Helvetica"/>
              </a:rPr>
              <a:t>Helperen kan genbruges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9 |</a:t>
            </a:r>
          </a:p>
        </p:txBody>
      </p:sp>
      <p:pic>
        <p:nvPicPr>
          <p:cNvPr id="15" name="Picture 14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Vigtigt forbehold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Demoen er lille — virkeligheden er stor</a:t>
            </a:r>
          </a:p>
        </p:txBody>
      </p:sp>
      <p:sp>
        <p:nvSpPr>
          <p:cNvPr id="4" name="5-Point Star 3"/>
          <p:cNvSpPr/>
          <p:nvPr/>
        </p:nvSpPr>
        <p:spPr>
          <a:xfrm>
            <a:off x="731520" y="1920240"/>
            <a:ext cx="822960" cy="822960"/>
          </a:xfrm>
          <a:prstGeom prst="star5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20240" y="196596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122A52"/>
                </a:solidFill>
                <a:latin typeface="Helvetica"/>
              </a:rPr>
              <a:t>Forskellen ser subtil ud her.</a:t>
            </a:r>
            <a:r>
              <a:rPr sz="2000" b="0">
                <a:solidFill>
                  <a:srgbClr val="122A52"/>
                </a:solidFill>
                <a:latin typeface="Helvetica"/>
              </a:rPr>
              <a:t> På jeres rigtige projekter eksploderer den.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789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Her:</a:t>
            </a:r>
            <a:r>
              <a:rPr sz="1500" b="0">
                <a:solidFill>
                  <a:srgbClr val="122A52"/>
                </a:solidFill>
                <a:latin typeface="Helvetica"/>
              </a:rPr>
              <a:t> 5 filer, ét tydeligt symptom, Opus 4.7 — Claude finder *et* fix uanset hvor vag prompten 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På jeres codebases:</a:t>
            </a:r>
            <a:r>
              <a:rPr sz="1500" b="0">
                <a:solidFill>
                  <a:srgbClr val="122A52"/>
                </a:solidFill>
                <a:latin typeface="Helvetica"/>
              </a:rPr>
              <a:t> 100k+ linjer, 10+ års historik, DTO'er, mappere, migrations, uskrevne konventioner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Konsekvens af vag prompt:</a:t>
            </a:r>
            <a:r>
              <a:rPr sz="1500" b="0">
                <a:solidFill>
                  <a:srgbClr val="122A52"/>
                </a:solidFill>
                <a:latin typeface="Helvetica"/>
              </a:rPr>
              <a:t> forkert fil · glemt halvdel af kæden · konfliktende abstraktion · brudt konvention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5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500" b="1">
                <a:solidFill>
                  <a:srgbClr val="122A52"/>
                </a:solidFill>
                <a:latin typeface="Helvetica"/>
              </a:rPr>
              <a:t>Vi træner mønsteret HER</a:t>
            </a:r>
            <a:r>
              <a:rPr sz="1500" b="0">
                <a:solidFill>
                  <a:srgbClr val="122A52"/>
                </a:solidFill>
                <a:latin typeface="Helvetica"/>
              </a:rPr>
              <a:t> — så det sidder i fingrene mandag morgen i en rigtig PR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10 |</a:t>
            </a:r>
          </a:p>
        </p:txBody>
      </p:sp>
      <p:pic>
        <p:nvPicPr>
          <p:cNvPr id="10" name="Picture 9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4327" y="1645920"/>
            <a:ext cx="1463040" cy="1463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6576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0">
                <a:solidFill>
                  <a:srgbClr val="F5B81C"/>
                </a:solidFill>
                <a:latin typeface="Menlo"/>
              </a:rPr>
              <a:t>Punkt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2976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Hands-on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02920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C8D4E8"/>
                </a:solidFill>
                <a:latin typeface="Helvetica"/>
              </a:rPr>
              <a:t>20 minutter · solo på din egen maskine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1155680" cy="914400"/>
          </a:xfrm>
          <a:prstGeom prst="rect">
            <a:avLst/>
          </a:prstGeom>
          <a:noFill/>
        </p:spPr>
        <p:txBody>
          <a:bodyPr wrap="square" lIns="0" tIns="0" b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122A52"/>
                </a:solidFill>
                <a:latin typeface="Helvetica"/>
              </a:rPr>
              <a:t>Hands-on</a:t>
            </a:r>
            <a:r>
              <a:rPr sz="3400" b="0">
                <a:solidFill>
                  <a:srgbClr val="122A52"/>
                </a:solidFill>
                <a:latin typeface="Helvetica"/>
              </a:rPr>
              <a:t> | Prøv begge prompt-typer på samme opgave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10972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clone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npm install</a:t>
            </a:r>
            <a:r>
              <a:rPr sz="1800" b="0">
                <a:solidFill>
                  <a:srgbClr val="122A52"/>
                </a:solidFill>
                <a:latin typeface="Helvetica"/>
              </a:rPr>
              <a:t> + </a:t>
            </a:r>
            <a:r>
              <a:rPr sz="1800" b="1">
                <a:solidFill>
                  <a:srgbClr val="122A52"/>
                </a:solidFill>
                <a:latin typeface="Helvetica"/>
              </a:rPr>
              <a:t>claude</a:t>
            </a:r>
            <a:r>
              <a:rPr sz="1800" b="0">
                <a:solidFill>
                  <a:srgbClr val="122A52"/>
                </a:solidFill>
                <a:latin typeface="Helvetica"/>
              </a:rPr>
              <a:t> i `demo/`-mappen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Vælg én opgave fra demoen (pris-bug, performance, eller favorit-knap)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først en </a:t>
            </a:r>
            <a:r>
              <a:rPr sz="1800" b="1">
                <a:solidFill>
                  <a:srgbClr val="122A52"/>
                </a:solidFill>
                <a:latin typeface="Helvetica"/>
              </a:rPr>
              <a:t>hurtig prompt</a:t>
            </a:r>
            <a:r>
              <a:rPr sz="1800" b="0">
                <a:solidFill>
                  <a:srgbClr val="122A52"/>
                </a:solidFill>
                <a:latin typeface="Helvetica"/>
              </a:rPr>
              <a:t> — som du ville skrive på en travl dag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1">
                <a:solidFill>
                  <a:srgbClr val="122A52"/>
                </a:solidFill>
                <a:latin typeface="Helvetica"/>
              </a:rPr>
              <a:t>git checkout .</a:t>
            </a:r>
            <a:r>
              <a:rPr sz="1800" b="0">
                <a:solidFill>
                  <a:srgbClr val="122A52"/>
                </a:solidFill>
                <a:latin typeface="Helvetica"/>
              </a:rPr>
              <a:t> og </a:t>
            </a:r>
            <a:r>
              <a:rPr sz="1800" b="1">
                <a:solidFill>
                  <a:srgbClr val="122A52"/>
                </a:solidFill>
                <a:latin typeface="Helvetica"/>
              </a:rPr>
              <a:t>/clear</a:t>
            </a:r>
            <a:r>
              <a:rPr sz="1800" b="0">
                <a:solidFill>
                  <a:srgbClr val="122A52"/>
                </a:solidFill>
                <a:latin typeface="Helvetica"/>
              </a:rPr>
              <a:t> for at rulle tilbage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Skriv så en prompt med </a:t>
            </a:r>
            <a:r>
              <a:rPr sz="1800" b="1">
                <a:solidFill>
                  <a:srgbClr val="122A52"/>
                </a:solidFill>
                <a:latin typeface="Helvetica"/>
              </a:rPr>
              <a:t>alle 4 byggeklodser</a:t>
            </a:r>
          </a:p>
          <a:p>
            <a:pPr algn="l">
              <a:lnSpc>
                <a:spcPct val="160000"/>
              </a:lnSpc>
              <a:spcAft>
                <a:spcPts val="1000"/>
              </a:spcAft>
            </a:pPr>
            <a:r>
              <a:rPr sz="1800" b="1">
                <a:solidFill>
                  <a:srgbClr val="122A52"/>
                </a:solidFill>
                <a:latin typeface="Helvetica"/>
              </a:rPr>
              <a:t>■   </a:t>
            </a:r>
            <a:r>
              <a:rPr sz="1800" b="0">
                <a:solidFill>
                  <a:srgbClr val="122A52"/>
                </a:solidFill>
                <a:latin typeface="Helvetica"/>
              </a:rPr>
              <a:t>Sammenlign: hvad var forskellen? Hvilken ville du committe?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556B8A"/>
                </a:solidFill>
                <a:latin typeface="Helvetica"/>
              </a:rPr>
              <a:t>12 |</a:t>
            </a:r>
          </a:p>
        </p:txBody>
      </p:sp>
      <p:pic>
        <p:nvPicPr>
          <p:cNvPr id="8" name="Picture 7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720" y="6263640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dc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7207" y="640080"/>
            <a:ext cx="1097280" cy="10972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920240"/>
            <a:ext cx="12191695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F5B81C"/>
                </a:solidFill>
                <a:latin typeface="Menlo"/>
              </a:rPr>
              <a:t>Hjemmeopgave inden torsdag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468880"/>
            <a:ext cx="1219169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 i="0">
                <a:solidFill>
                  <a:srgbClr val="FFFFFF"/>
                </a:solidFill>
                <a:latin typeface="Helvetica"/>
              </a:rPr>
              <a:t>Brug 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200400"/>
            <a:ext cx="121916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0" i="0">
                <a:solidFill>
                  <a:srgbClr val="C8D4E8"/>
                </a:solidFill>
                <a:latin typeface="Helvetica"/>
              </a:rPr>
              <a:t>på mindst én rigtig opgave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4297680"/>
            <a:ext cx="8531352" cy="1828800"/>
          </a:xfrm>
          <a:prstGeom prst="rect">
            <a:avLst/>
          </a:prstGeom>
          <a:solidFill>
            <a:srgbClr val="1B36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94560" y="4434840"/>
            <a:ext cx="7772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i="0">
                <a:solidFill>
                  <a:srgbClr val="F5B81C"/>
                </a:solidFill>
                <a:latin typeface="Menlo"/>
              </a:rPr>
              <a:t>Tag med til torsdag: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4937760"/>
            <a:ext cx="7772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prompt der virkede godt</a:t>
            </a:r>
          </a:p>
          <a:p>
            <a:pPr algn="l">
              <a:lnSpc>
                <a:spcPct val="140000"/>
              </a:lnSpc>
              <a:spcAft>
                <a:spcPts val="1000"/>
              </a:spcAft>
            </a:pPr>
            <a:r>
              <a:rPr sz="1800" b="1">
                <a:solidFill>
                  <a:srgbClr val="F5B81C"/>
                </a:solidFill>
                <a:latin typeface="Helvetica"/>
              </a:rPr>
              <a:t>■   </a:t>
            </a:r>
            <a:r>
              <a:rPr sz="1800" b="0">
                <a:solidFill>
                  <a:srgbClr val="FFFFFF"/>
                </a:solidFill>
                <a:latin typeface="Helvetica"/>
              </a:rPr>
              <a:t>Én der ikke gjorde — vi lærer mest af de fejlede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93408"/>
            <a:ext cx="12191695" cy="164592"/>
          </a:xfrm>
          <a:prstGeom prst="rect">
            <a:avLst/>
          </a:prstGeom>
          <a:solidFill>
            <a:srgbClr val="F5B8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