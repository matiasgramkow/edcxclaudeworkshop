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0:00 — alle finder pladser. Matias eller Michael indleder kort, så giver vi ordet til Troels senere.</a:t>
            </a:r>
          </a:p>
          <a:p/>
          <a:p>
            <a:r>
              <a:t>─── SIG (Matias/Michael) ───</a:t>
            </a:r>
          </a:p>
          <a:p>
            <a:r>
              <a:t>"Velkommen til session 6. I dag er det Troels der præsenterer — to ben: PAT mod Azure DevOps så Claude kan læse work items, og hvordan Claude bruger git med branches, commits og reviews. Live demoer til begge."</a:t>
            </a:r>
          </a:p>
          <a:p/>
          <a:p>
            <a:r>
              <a:t>"Efter Troels prøver I selv at pushe en PR til workshop-lab'en."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0:00–0:02 — vis flowet. Peg på de fremhævede (blå) felter — det er hvor det meste af tiden går.</a:t>
            </a:r>
          </a:p>
          <a:p/>
          <a:p>
            <a:r>
              <a:t>─── SIG ───</a:t>
            </a:r>
          </a:p>
          <a:p>
            <a:r>
              <a:t>"Samme struktur: recap, dagens emne, hands-on, take-home."</a:t>
            </a:r>
          </a:p>
          <a:p/>
          <a:p>
            <a:r>
              <a:t>"Hands-on i dag er konkret: I forker, cloner, laver en branch, kører `/commit`, pusher, og åbner PR. Når det er gjort har I jeres egen URL på workshop-sitet."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0:02–0:10 — kort runde. Hjemmeopgaven var: kør Explore på et EDC-repo, byg én custom subagent, spawn 2+ parallelle. Tag 2-3 deltagere.</a:t>
            </a:r>
          </a:p>
          <a:p/>
          <a:p>
            <a:r>
              <a:t>─── SIG ───</a:t>
            </a:r>
          </a:p>
          <a:p>
            <a:r>
              <a:t>"Hjemmeopgaven: Explore + én custom agent + parallelle subagents. Hurtig runde — hvad byggede I?"</a:t>
            </a:r>
          </a:p>
          <a:p/>
          <a:p>
            <a:r>
              <a:t>─── GØR ───</a:t>
            </a:r>
          </a:p>
          <a:p>
            <a:r>
              <a:t>Hold tiden. Max 8 min på recap så Troels får sine 25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0:10–0:15 — kort annonce. Oliver er allerede på næste session, så det her er bare en heads-up, ikke en rekruttering.</a:t>
            </a:r>
          </a:p>
          <a:p/>
          <a:p>
            <a:r>
              <a:t>─── SIG ───</a:t>
            </a:r>
          </a:p>
          <a:p>
            <a:r>
              <a:t>"Inden Troels får ordet — heads-up om næste gang: Oliver Pasha Rasoli tager session 7 om Skills og model-tuning, torsdag den 28. maj. I får pre-work dagen før."</a:t>
            </a:r>
          </a:p>
          <a:p/>
          <a:p>
            <a:r>
              <a:t>"Vi mangler stadig præsentanter til session 8 og 9 — kig forbi mig eller Michael bagefter hvis I vil tage 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───</a:t>
            </a:r>
          </a:p>
          <a:p>
            <a:r>
              <a:t>0:15 — overdrag scenen. Sig Troels' navn, klap kort, sæt jer ned. Troels har ordet de næste 25 minutter — OG hands-on bagefter.</a:t>
            </a:r>
          </a:p>
          <a:p/>
          <a:p>
            <a:r>
              <a:t>─── SIG (Matias/Michael) ───</a:t>
            </a:r>
          </a:p>
          <a:p>
            <a:r>
              <a:t>"Troels — værsgo, scenen er din."</a:t>
            </a:r>
          </a:p>
          <a:p/>
          <a:p>
            <a:r>
              <a:t>─── GØR ───</a:t>
            </a:r>
          </a:p>
          <a:p>
            <a:r>
              <a:t>Sæt jer på sidelinjen. Lad Troels køre. Hop kun ind hvis han direkte beder om 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[SKJULT BACKUP — Troels bygger sine egne slides. Disse ligger i decket hvis han skal bruge dem.]</a:t>
            </a:r>
          </a:p>
          <a:p/>
          <a:p>
            <a:r>
              <a:t>─── HVIS VIST (Troels) ───</a:t>
            </a:r>
          </a:p>
          <a:p>
            <a:r>
              <a:t>Sæt rammen i 30 sekunder: dagens to ben. PAT mod DevOps (læser opgaver), og Claude i git (branches, commits, reviews). Live demoer til begge — vi prøver det selv før vi taler om 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[SKJULT BACKUP]</a:t>
            </a:r>
          </a:p>
          <a:p/>
          <a:p>
            <a:r>
              <a:t>─── HVIS VIST (Troels) ───</a:t>
            </a:r>
          </a:p>
          <a:p>
            <a:r>
              <a:t>Det her er hvor de fleste sidder fast: 'Claude kan ikke pushe til mine repos eller læse opgaver.' Svaret er PAT.</a:t>
            </a:r>
          </a:p>
          <a:p/>
          <a:p>
            <a:r>
              <a:t>Gå roligt igennem: New Token → Scope `Code (read &amp; write)` + `Work Items (read)` → Expiration max 90 dage. To opsætningsveje: Git Credential Manager til kun-git, eller `az devops login` hvis I bruger hele Azure-stakken.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[SKJULT BACKUP — LIVE DEMO 1]</a:t>
            </a:r>
          </a:p>
          <a:p/>
          <a:p>
            <a:r>
              <a:t>─── HVIS VIST (Troels) ───</a:t>
            </a:r>
          </a:p>
          <a:p>
            <a:r>
              <a:t>Live demo: vis `az boards work-item show --id &lt;ID&gt;` på et rigtigt EDC work item. Vis JSON-output kort, og pump det så ind til Claude med 'Læs work item X og foreslå filer at ændre'.</a:t>
            </a:r>
          </a:p>
          <a:p/>
          <a:p>
            <a:r>
              <a:t>Pointe: ingen copy-paste fra browser. Claude læser title, beskrivelse, acceptkriterier og kommentarer direkte. Den ved fra første prompt hvad opgaven handler om.</a:t>
            </a:r>
          </a:p>
          <a:p/>
          <a:p>
            <a:r>
              <a:t>Hvis demoen fejler (PAT ikke sat op, work item ikke fundet): fall back til JSON-eksemplet og forklar konceptet.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[SKJULT BACKUP]</a:t>
            </a:r>
          </a:p>
          <a:p/>
          <a:p>
            <a:r>
              <a:t>─── HVIS VIST (Troels) ───</a:t>
            </a:r>
          </a:p>
          <a:p>
            <a:r>
              <a:t>Tre trin: branch → commit → review. Pointer:</a:t>
            </a:r>
          </a:p>
          <a:p>
            <a:r>
              <a:t>- Branch-navn kan komme fra DevOps-opgaven (fx 'feature/12345-tom-email-guard')</a:t>
            </a:r>
          </a:p>
          <a:p>
            <a:r>
              <a:t>- `/commit` finder konvention fra seneste commits — første gang du retter stilen, husker den</a:t>
            </a:r>
          </a:p>
          <a:p>
            <a:r>
              <a:t>- `/review` er FØR kollegaen — ikke i stedet for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[SKJULT BACKUP]</a:t>
            </a:r>
          </a:p>
          <a:p/>
          <a:p>
            <a:r>
              <a:t>─── HVIS VIST (Troels) ───</a:t>
            </a:r>
          </a:p>
          <a:p>
            <a:r>
              <a:t>Den vigtigste pointe i hele sessionen: Claude er god til det rutineprægede. Den er IKKE god til domænet. Lad jeres kollega tage domænet.</a:t>
            </a:r>
          </a:p>
          <a:p/>
          <a:p>
            <a:r>
              <a:t>Sig højt: 'Claude-review forbereder kollega-review — det erstatter det ikke.'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[SKJULT BACKUP — LIVE DEMO 2]</a:t>
            </a:r>
          </a:p>
          <a:p/>
          <a:p>
            <a:r>
              <a:t>─── HVIS VIST (Troels) ───</a:t>
            </a:r>
          </a:p>
          <a:p>
            <a:r>
              <a:t>Live demo: hele git-flowet i ét take.</a:t>
            </a:r>
          </a:p>
          <a:p>
            <a:r>
              <a:t>1. Lav branch (gerne med DevOps work item-ID i navnet — bygger bro tilbage til Ben 1)</a:t>
            </a:r>
          </a:p>
          <a:p>
            <a:r>
              <a:t>2. Stage en ægte ændring (du har en klar i forvejen)</a:t>
            </a:r>
          </a:p>
          <a:p>
            <a:r>
              <a:t>3. `/commit` — vis at den fanger stilen. Hvis ikke: bed om jeres præcise stil og lad den rette sig</a:t>
            </a:r>
          </a:p>
          <a:p>
            <a:r>
              <a:t>4. Push branchen</a:t>
            </a:r>
          </a:p>
          <a:p>
            <a:r>
              <a:t>5. `/review` — gennemgå punktvist højt: 'ja, ret' / 'nej, ikke relevant' / 'udenfor scope'</a:t>
            </a:r>
          </a:p>
          <a:p/>
          <a:p>
            <a:r>
              <a:t>Hvis demoen tager for lang tid: spring trin 4 over og kør `/review` på en branch du allerede har 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[SKJULT BACKUP]</a:t>
            </a:r>
          </a:p>
          <a:p/>
          <a:p>
            <a:r>
              <a:t>─── HVIS VIST (Troels) ───</a:t>
            </a:r>
          </a:p>
          <a:p>
            <a:r>
              <a:t>PAT er ikke et almindeligt password. Det er fuld kode-adgang til alt I har rettigheder til.</a:t>
            </a:r>
          </a:p>
          <a:p/>
          <a:p>
            <a:r>
              <a:t>Hvis I tror den er lækket: revoke STRAKS. Lav en ny. Bedre at have 5 minutters PAT-pause end at miste søvn over hvor den ligger.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[SKJULT BACKUP]</a:t>
            </a:r>
          </a:p>
          <a:p/>
          <a:p>
            <a:r>
              <a:t>─── HVIS VIST (Troels) ───</a:t>
            </a:r>
          </a:p>
          <a:p>
            <a:r>
              <a:t>Vis det her hvis nogen sidder fast i workshop-lab-flowet. Tre vigtige punkter:</a:t>
            </a:r>
          </a:p>
          <a:p>
            <a:r>
              <a:t>1. Fork-knappen er øverst til højre på GitHub</a:t>
            </a:r>
          </a:p>
          <a:p>
            <a:r>
              <a:t>2. Clone DIN fork, ikke Matias' repo</a:t>
            </a:r>
          </a:p>
          <a:p>
            <a:r>
              <a:t>3. `git remote add upstream` så I kan hente fra Matias' senere</a:t>
            </a:r>
          </a:p>
          <a:p/>
          <a:p>
            <a:r>
              <a:t>Resten er almindelig branch + commit + push +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(Troels) ───</a:t>
            </a:r>
          </a:p>
          <a:p>
            <a:r>
              <a:t>0:40 — overgang til hands-on. Troels driver det selv. Energien skal op — det her er hvor de bygger noget de kan vise.</a:t>
            </a:r>
          </a:p>
          <a:p/>
          <a:p>
            <a:r>
              <a:t>─── SIG (Troels) ───</a:t>
            </a:r>
          </a:p>
          <a:p>
            <a:r>
              <a:t>"Nu er det jer. 15 minutter — push jeres første PR til workshop-lab'en."</a:t>
            </a:r>
          </a:p>
          <a:p/>
          <a:p>
            <a:r>
              <a:t>─── GØR ───</a:t>
            </a:r>
          </a:p>
          <a:p>
            <a:r>
              <a:t>Klap én gang, gå videre til næste slide hvor opskriften 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(Troels) ───</a:t>
            </a:r>
          </a:p>
          <a:p>
            <a:r>
              <a:t>0:40–0:55 — opskriften står her. Matias og Michael går rundt og hjælper. Hvis nogen sidder fast, bed dem råbe.</a:t>
            </a:r>
          </a:p>
          <a:p/>
          <a:p>
            <a:r>
              <a:t>─── SIG (Troels) ───</a:t>
            </a:r>
          </a:p>
          <a:p>
            <a:r>
              <a:t>"Find en partner. Vælg A-spor hvis I vil pushe til workshop-lab'en, B-spor hvis I først vil have PAT sat op til Azure DevOps. I behøver ikke samme spor."</a:t>
            </a:r>
          </a:p>
          <a:p/>
          <a:p>
            <a:r>
              <a:t>"Hele flowet ligger i demo/LAB.md i repoet — Claude læser den automatisk hvis I beder den hjælpe."</a:t>
            </a:r>
          </a:p>
          <a:p/>
          <a:p>
            <a:r>
              <a:t>─── GØR ───</a:t>
            </a:r>
          </a:p>
          <a:p>
            <a:r>
              <a:t>Lad næste slide stå mens de arbejder — cheat-sheet er nemmere at glo på end at huske udenad.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[SKJULT BACKUP — Troels bringer sin egen cheat-sheet hvis han vil have en.]</a:t>
            </a:r>
          </a:p>
          <a:p/>
          <a:p>
            <a:r>
              <a:t>─── HVIS VIST (Troels) ───</a:t>
            </a:r>
          </a:p>
          <a:p>
            <a:r>
              <a:t>Skift hertil straks de begynder. Lad det stå hele hands-on. De skal kunne kigge op og se kommandoerne.</a:t>
            </a:r>
          </a:p>
          <a:p/>
          <a:p>
            <a:r>
              <a:t>─── GØR ───</a:t>
            </a:r>
          </a:p>
          <a:p>
            <a:r>
              <a:t>Gå rundt med Matias og Michael. Læg mærke til den første der får preview-URL — bed dem dele den når I samler 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(Troels/Matias) ───</a:t>
            </a:r>
          </a:p>
          <a:p>
            <a:r>
              <a:t>0:55–1:00 — saml op. Spørg højt hvem der fik en preview-URL. Vis 1-2 af dem på storskærm hvis muligt. Så hjemmeopgaven.</a:t>
            </a:r>
          </a:p>
          <a:p/>
          <a:p>
            <a:r>
              <a:t>─── SIG ───</a:t>
            </a:r>
          </a:p>
          <a:p>
            <a:r>
              <a:t>"Hvem fik en preview-URL? Lad os se én eller to."</a:t>
            </a:r>
          </a:p>
          <a:p/>
          <a:p>
            <a:r>
              <a:t>[Vis dem på storskærm hvis muligt.]</a:t>
            </a:r>
          </a:p>
          <a:p/>
          <a:p>
            <a:r>
              <a:t>"Hjemmeopgaven: brug `/commit` eller `/review` på ægte arbejde mindst én gang, sæt PAT op hvis I ikke har det, og find én ting Claude fangede i et review."</a:t>
            </a:r>
          </a:p>
          <a:p/>
          <a:p>
            <a:r>
              <a:t>"Bonus: byg videre på jeres /lab-side — vis den frem næste gang."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─── LÆS (Matias/Michael) ───</a:t>
            </a:r>
          </a:p>
          <a:p>
            <a:r>
              <a:t>1:00 — afrund. Tak Troels højt foran rummet.</a:t>
            </a:r>
          </a:p>
          <a:p/>
          <a:p>
            <a:r>
              <a:t>─── SIG ───</a:t>
            </a:r>
          </a:p>
          <a:p>
            <a:r>
              <a:t>"Stort tak til Troels for at tage session 6. Næste gang er session 7 — Skills og model-tuning — torsdag den 28. maj med Oliver."</a:t>
            </a:r>
          </a:p>
          <a:p/>
          <a:p>
            <a:r>
              <a:t>"Tak for i dag."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2801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5B81C"/>
                </a:solidFill>
                <a:latin typeface="Menlo"/>
              </a:rPr>
              <a:t>Session 6 · Tirsdag uge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Helvetica"/>
              </a:rPr>
              <a:t>Git, commits, review og 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C8D4E8"/>
                </a:solidFill>
                <a:latin typeface="Helvetica"/>
              </a:rPr>
              <a:t>Claude i daglig git · branches, commits, reviews · PAT mod Azure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Helvetica"/>
              </a:rPr>
              <a:t>Præsenteret af Troels Ford Helbo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C8D4E8"/>
                </a:solidFill>
                <a:latin typeface="Helvetica"/>
              </a:rPr>
              <a:t>Faciliteret af Matias &amp; Michael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22A52"/>
                </a:solidFill>
                <a:latin typeface="Helvetica"/>
              </a:rPr>
              <a:t>Dagsorden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B8A"/>
                </a:solidFill>
                <a:latin typeface="Menlo"/>
              </a:rPr>
              <a:t>Tirsdag · 10:30 – 11:30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429768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182880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0:00–0:10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2103120"/>
            <a:ext cx="877824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Recap fra session 5 — hvordan gik subagent-eksperimenterne?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9192"/>
            <a:ext cx="182880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0:10–0:15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679192"/>
            <a:ext cx="877824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Næste gang: session 7 — Skills og model-tuning (Oliver)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55264"/>
            <a:ext cx="18288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Fra 0:15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3255264"/>
            <a:ext cx="877824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Troels præsenterer: Git-workflow, commits og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831336"/>
            <a:ext cx="182880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Fra 0:40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3831336"/>
            <a:ext cx="8778240" cy="50292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Hands-on — push din første PR til workshop-lab'en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407408"/>
            <a:ext cx="182880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Til sidst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4407408"/>
            <a:ext cx="8778240" cy="50292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Helvetica"/>
              </a:rPr>
              <a:t>Saml op + take-home + hjemmeopgave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2 |</a:t>
            </a:r>
          </a:p>
        </p:txBody>
      </p:sp>
      <p:pic>
        <p:nvPicPr>
          <p:cNvPr id="19" name="Picture 18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Recap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Hvad tog vi med fra session 5?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3 |</a:t>
            </a:r>
          </a:p>
        </p:txBody>
      </p:sp>
      <p:pic>
        <p:nvPicPr>
          <p:cNvPr id="7" name="Picture 6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Næste gang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Session 7 · Torsdag uge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11091672" cy="329184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914400" y="2286000"/>
            <a:ext cx="1005840" cy="1005840"/>
          </a:xfrm>
          <a:prstGeom prst="star5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21945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B81C"/>
                </a:solidFill>
                <a:latin typeface="Menlo"/>
              </a:rPr>
              <a:t>SESSION 7 · TORSDAG D. 28. MAJ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6060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22A52"/>
                </a:solidFill>
                <a:latin typeface="Helvetica"/>
              </a:rPr>
              <a:t>Skills og model-tuning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2461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56B8A"/>
                </a:solidFill>
                <a:latin typeface="Helvetica"/>
              </a:rPr>
              <a:t>Custom slash commands · `.claude/skills/` · `/model` og `/effort` · cost vs. speed vs.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22A52"/>
                </a:solidFill>
                <a:latin typeface="Helvetica"/>
              </a:rPr>
              <a:t>Oliver Pasha Rasoli</a:t>
            </a:r>
            <a:r>
              <a:rPr sz="1500" b="0">
                <a:solidFill>
                  <a:srgbClr val="122A52"/>
                </a:solidFill>
                <a:latin typeface="Helvetica"/>
              </a:rPr>
              <a:t> præsenterer. Pre-work-link sendes dagen før.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556B8A"/>
                </a:solidFill>
                <a:latin typeface="Helvetica"/>
              </a:rPr>
              <a:t>Vi mangler stadig præsentanter til session 8 (MCP og hooks) og session 9 (Best practices).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4 |</a:t>
            </a:r>
          </a:p>
        </p:txBody>
      </p:sp>
      <p:pic>
        <p:nvPicPr>
          <p:cNvPr id="14" name="Picture 13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5B81C"/>
                </a:solidFill>
                <a:latin typeface="Menlo"/>
              </a:rPr>
              <a:t>Punkt 3 · Dagens emne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Helvetica"/>
              </a:rPr>
              <a:t>Git + 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C8D4E8"/>
                </a:solidFill>
                <a:latin typeface="Helvetica"/>
              </a:rPr>
              <a:t>Troels Ford Helbo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Dagens to ben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PAT mod DevOps + Claude i git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5349240" cy="32918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37160" cy="329184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22A52"/>
                </a:solidFill>
                <a:latin typeface="Helvetica"/>
              </a:rPr>
              <a:t>Ben 1 · PAT mod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56B8A"/>
                </a:solidFill>
                <a:latin typeface="Menlo"/>
              </a:rPr>
              <a:t>Claude læser work items
fra Azure DevOps via PAT/`az`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22A52"/>
                </a:solidFill>
                <a:latin typeface="Helvetica"/>
              </a:rPr>
              <a:t>Når et boards-ticket beskriver opgaven, kan Claude trække konteksten ind uden copy-paste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349240" cy="329184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137160" cy="32918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94560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4532D"/>
                </a:solidFill>
                <a:latin typeface="Helvetica"/>
              </a:rPr>
              <a:t>Ben 2 · Claude i 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92608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56B8A"/>
                </a:solidFill>
                <a:latin typeface="Menlo"/>
              </a:rPr>
              <a:t>Branches, commits, reviews
— hele dit daglige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0624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22A52"/>
                </a:solidFill>
                <a:latin typeface="Helvetica"/>
              </a:rPr>
              <a:t>`/commit` analyserer diff og rammer jeres stil. `/review` finder rutine-fejl før kollegaen kigger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FFFFF"/>
                </a:solidFill>
                <a:latin typeface="Helvetica"/>
              </a:rPr>
              <a:t>Live demoer til begge ben — vi prøver det selv før vi taler om det.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6 |</a:t>
            </a:r>
          </a:p>
        </p:txBody>
      </p:sp>
      <p:pic>
        <p:nvPicPr>
          <p:cNvPr id="19" name="Picture 18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PAT-opsætning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Sådan får Claude adgang til Azure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7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700" b="0">
                <a:solidFill>
                  <a:srgbClr val="122A52"/>
                </a:solidFill>
                <a:latin typeface="Helvetica"/>
              </a:rPr>
              <a:t>Azure DevOps → </a:t>
            </a:r>
            <a:r>
              <a:rPr sz="1700" b="1">
                <a:solidFill>
                  <a:srgbClr val="122A52"/>
                </a:solidFill>
                <a:latin typeface="Helvetica"/>
              </a:rPr>
              <a:t>User Settings → Personal Access Tokens</a:t>
            </a:r>
            <a:r>
              <a:rPr sz="1700" b="0">
                <a:solidFill>
                  <a:srgbClr val="122A52"/>
                </a:solidFill>
                <a:latin typeface="Helvetica"/>
              </a:rPr>
              <a:t> → New Token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7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700" b="0">
                <a:solidFill>
                  <a:srgbClr val="122A52"/>
                </a:solidFill>
                <a:latin typeface="Helvetica"/>
              </a:rPr>
              <a:t>Scope: </a:t>
            </a:r>
            <a:r>
              <a:rPr sz="1700" b="1">
                <a:solidFill>
                  <a:srgbClr val="122A52"/>
                </a:solidFill>
                <a:latin typeface="Helvetica"/>
              </a:rPr>
              <a:t>`Code (read &amp; write)`</a:t>
            </a:r>
            <a:r>
              <a:rPr sz="1700" b="0">
                <a:solidFill>
                  <a:srgbClr val="122A52"/>
                </a:solidFill>
                <a:latin typeface="Helvetica"/>
              </a:rPr>
              <a:t> + </a:t>
            </a:r>
            <a:r>
              <a:rPr sz="1700" b="1">
                <a:solidFill>
                  <a:srgbClr val="122A52"/>
                </a:solidFill>
                <a:latin typeface="Helvetica"/>
              </a:rPr>
              <a:t>`Work Items (read)`</a:t>
            </a:r>
            <a:r>
              <a:rPr sz="1700" b="0">
                <a:solidFill>
                  <a:srgbClr val="122A52"/>
                </a:solidFill>
                <a:latin typeface="Helvetica"/>
              </a:rPr>
              <a:t> så Claude kan trække opgaver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7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700" b="0">
                <a:solidFill>
                  <a:srgbClr val="122A52"/>
                </a:solidFill>
                <a:latin typeface="Helvetica"/>
              </a:rPr>
              <a:t>Expiration: </a:t>
            </a:r>
            <a:r>
              <a:rPr sz="1700" b="1">
                <a:solidFill>
                  <a:srgbClr val="122A52"/>
                </a:solidFill>
                <a:latin typeface="Helvetica"/>
              </a:rPr>
              <a:t>max 90 dage</a:t>
            </a:r>
            <a:r>
              <a:rPr sz="1700" b="0">
                <a:solidFill>
                  <a:srgbClr val="122A52"/>
                </a:solidFill>
                <a:latin typeface="Helvetica"/>
              </a:rPr>
              <a:t> — sæt en kalender-reminder</a:t>
            </a:r>
          </a:p>
          <a:p>
            <a:pPr algn="l">
              <a:lnSpc>
                <a:spcPct val="160000"/>
              </a:lnSpc>
              <a:spcAft>
                <a:spcPts val="1000"/>
              </a:spcAft>
            </a:pPr>
            <a:r>
              <a:rPr sz="17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700" b="0">
                <a:solidFill>
                  <a:srgbClr val="122A52"/>
                </a:solidFill>
                <a:latin typeface="Helvetica"/>
              </a:rPr>
              <a:t>Gem i </a:t>
            </a:r>
            <a:r>
              <a:rPr sz="1700" b="1">
                <a:solidFill>
                  <a:srgbClr val="122A52"/>
                </a:solidFill>
                <a:latin typeface="Helvetica"/>
              </a:rPr>
              <a:t>Git Credential Manager</a:t>
            </a:r>
            <a:r>
              <a:rPr sz="1700" b="0">
                <a:solidFill>
                  <a:srgbClr val="122A52"/>
                </a:solidFill>
                <a:latin typeface="Helvetica"/>
              </a:rPr>
              <a:t> eller via `az devops login`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80560"/>
            <a:ext cx="10698480" cy="173736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74320" bIns="274320" wrap="square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# Variant A — kun git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$ git config --global credential.helper "manager-core"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# Næste git push: indsæt PAT som password → glemt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# Variant B — hele Azure-stakken samlet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$ az login &amp;&amp; az extension add --name azure-devops &amp;&amp; az devops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7 |</a:t>
            </a:r>
          </a:p>
        </p:txBody>
      </p:sp>
      <p:pic>
        <p:nvPicPr>
          <p:cNvPr id="9" name="Picture 8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LIVE DEMO · Ben 1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Claude læser en DevOps-opgave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7132320" cy="402336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74320" bIns="274320" wrap="square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# Hent et work item via az CLI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$ az boards work-item show --id 12345 \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   --org https://dev.azure.com/edc \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   --output json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# Eller pump det direkte ind i Claude: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&gt; az boards work-item show --id 12345 \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   | claude --read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# Eller bed Claude selv: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&gt; Læs work item 12345 fra Azure DevOps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 og foreslå hvilke filer der skal ændres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 for at løse acceptkriterierne.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611880" cy="402336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201168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2A52"/>
                </a:solidFill>
                <a:latin typeface="Menlo"/>
              </a:rPr>
              <a:t>POINTEN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423160"/>
            <a:ext cx="3337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22A52"/>
                </a:solidFill>
                <a:latin typeface="Helvetica"/>
              </a:rPr>
              <a:t>Opgaven kommer ind af sig selv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566160"/>
            <a:ext cx="3337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22A52"/>
                </a:solidFill>
                <a:latin typeface="Helvetica"/>
              </a:rPr>
              <a:t>Ingen copy-paste fra browseren. Claude læser </a:t>
            </a:r>
            <a:r>
              <a:rPr sz="1300" b="1">
                <a:solidFill>
                  <a:srgbClr val="122A52"/>
                </a:solidFill>
                <a:latin typeface="Helvetica"/>
              </a:rPr>
              <a:t>title, beskrivelse, acceptkriterier, kommentarer</a:t>
            </a:r>
            <a:r>
              <a:rPr sz="1300" b="0">
                <a:solidFill>
                  <a:srgbClr val="122A52"/>
                </a:solidFill>
                <a:latin typeface="Helvetica"/>
              </a:rPr>
              <a:t> — og ved fra første prompt hvad opgaven handler 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556B8A"/>
                </a:solidFill>
                <a:latin typeface="Menlo"/>
              </a:rPr>
              <a:t>Forudsætning: PAT med Work Items (read) + `az` logget ind.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8 |</a:t>
            </a:r>
          </a:p>
        </p:txBody>
      </p:sp>
      <p:pic>
        <p:nvPicPr>
          <p:cNvPr id="13" name="Picture 12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Claude i daglig git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Branches · commits · reviews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377440" cy="109728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"/>
              </a:rPr>
              <a:t>1. Branch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828800"/>
            <a:ext cx="8595360" cy="109728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8138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22A52"/>
                </a:solidFill>
                <a:latin typeface="Helvetica"/>
              </a:rPr>
              <a:t>`git checkout -b feature/&lt;id&gt;`
— eller bed Claude foreslå et navn ud fra DevOps-opgaven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63240"/>
            <a:ext cx="2377440" cy="109728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"/>
              </a:rPr>
              <a:t>2. Commit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3063240"/>
            <a:ext cx="8595360" cy="109728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063240"/>
            <a:ext cx="8138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22A52"/>
                </a:solidFill>
                <a:latin typeface="Helvetica"/>
              </a:rPr>
              <a:t>`/commit` analyserer `git diff --cached` og foreslår en besked
i jeres konvention. Justér én gang — den husker stilen.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97680"/>
            <a:ext cx="2377440" cy="109728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"/>
              </a:rPr>
              <a:t>3.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4297680"/>
            <a:ext cx="8595360" cy="109728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297680"/>
            <a:ext cx="81381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22A52"/>
                </a:solidFill>
                <a:latin typeface="Helvetica"/>
              </a:rPr>
              <a:t>`/review` kigger PR'en igennem FØR kollegaen. Fanger
null-checks, glemte tests, scope creep, konvention-brud.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22A52"/>
                </a:solidFill>
                <a:latin typeface="Helvetica"/>
              </a:rPr>
              <a:t>Golden rule: Claude-review FORBEREDER kollega-review — det erstatter det ikke.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9 |</a:t>
            </a:r>
          </a:p>
        </p:txBody>
      </p:sp>
      <p:pic>
        <p:nvPicPr>
          <p:cNvPr id="20" name="Picture 19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Hvor stoler I på Claude-review?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JA og NEJ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5349240" cy="4023360"/>
          </a:xfrm>
          <a:prstGeom prst="rect">
            <a:avLst/>
          </a:prstGeom>
          <a:solidFill>
            <a:srgbClr val="D7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532D"/>
                </a:solidFill>
                <a:latin typeface="Menlo"/>
              </a:rPr>
              <a:t>JA — god til at fange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46177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14532D"/>
                </a:solidFill>
                <a:latin typeface="Helvetica"/>
              </a:rPr>
              <a:t>■   </a:t>
            </a:r>
            <a:r>
              <a:rPr sz="1400" b="1">
                <a:solidFill>
                  <a:srgbClr val="122A52"/>
                </a:solidFill>
                <a:latin typeface="Helvetica"/>
              </a:rPr>
              <a:t>Typing</a:t>
            </a:r>
            <a:r>
              <a:rPr sz="1400" b="0">
                <a:solidFill>
                  <a:srgbClr val="122A52"/>
                </a:solidFill>
                <a:latin typeface="Helvetica"/>
              </a:rPr>
              <a:t>-fejl og null-checks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14532D"/>
                </a:solidFill>
                <a:latin typeface="Helvetica"/>
              </a:rPr>
              <a:t>■   </a:t>
            </a:r>
            <a:r>
              <a:rPr sz="1400" b="0">
                <a:solidFill>
                  <a:srgbClr val="122A52"/>
                </a:solidFill>
                <a:latin typeface="Helvetica"/>
              </a:rPr>
              <a:t>Konvention-brud (linter ville fange det også)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14532D"/>
                </a:solidFill>
                <a:latin typeface="Helvetica"/>
              </a:rPr>
              <a:t>■   </a:t>
            </a:r>
            <a:r>
              <a:rPr sz="1400" b="1">
                <a:solidFill>
                  <a:srgbClr val="122A52"/>
                </a:solidFill>
                <a:latin typeface="Helvetica"/>
              </a:rPr>
              <a:t>Glemte tests</a:t>
            </a:r>
            <a:r>
              <a:rPr sz="1400" b="0">
                <a:solidFill>
                  <a:srgbClr val="122A52"/>
                </a:solidFill>
                <a:latin typeface="Helvetica"/>
              </a:rPr>
              <a:t> — happy path uden edge cases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14532D"/>
                </a:solidFill>
                <a:latin typeface="Helvetica"/>
              </a:rPr>
              <a:t>■   </a:t>
            </a:r>
            <a:r>
              <a:rPr sz="1400" b="1">
                <a:solidFill>
                  <a:srgbClr val="122A52"/>
                </a:solidFill>
                <a:latin typeface="Helvetica"/>
              </a:rPr>
              <a:t>Død kode-stier</a:t>
            </a:r>
            <a:r>
              <a:rPr sz="1400" b="0">
                <a:solidFill>
                  <a:srgbClr val="122A52"/>
                </a:solidFill>
                <a:latin typeface="Helvetica"/>
              </a:rPr>
              <a:t> der aldrig kaldes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14532D"/>
                </a:solidFill>
                <a:latin typeface="Helvetica"/>
              </a:rPr>
              <a:t>■   </a:t>
            </a:r>
            <a:r>
              <a:rPr sz="1400" b="0">
                <a:solidFill>
                  <a:srgbClr val="122A52"/>
                </a:solidFill>
                <a:latin typeface="Helvetica"/>
              </a:rPr>
              <a:t>Sløsede imports og ubrugte variabler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828800"/>
            <a:ext cx="5349240" cy="4023360"/>
          </a:xfrm>
          <a:prstGeom prst="rect">
            <a:avLst/>
          </a:prstGeom>
          <a:solidFill>
            <a:srgbClr val="FA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0312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B1F1F"/>
                </a:solidFill>
                <a:latin typeface="Menlo"/>
              </a:rPr>
              <a:t>NEJ — kollega skal stadig kigge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697480"/>
            <a:ext cx="46177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8B1F1F"/>
                </a:solidFill>
                <a:latin typeface="Helvetica"/>
              </a:rPr>
              <a:t>■   </a:t>
            </a:r>
            <a:r>
              <a:rPr sz="1400" b="1">
                <a:solidFill>
                  <a:srgbClr val="122A52"/>
                </a:solidFill>
                <a:latin typeface="Helvetica"/>
              </a:rPr>
              <a:t>Domæne-logik</a:t>
            </a:r>
            <a:r>
              <a:rPr sz="1400" b="0">
                <a:solidFill>
                  <a:srgbClr val="122A52"/>
                </a:solidFill>
                <a:latin typeface="Helvetica"/>
              </a:rPr>
              <a:t> — den kender ikke jeres forretning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8B1F1F"/>
                </a:solidFill>
                <a:latin typeface="Helvetica"/>
              </a:rPr>
              <a:t>■   </a:t>
            </a:r>
            <a:r>
              <a:rPr sz="1400" b="1">
                <a:solidFill>
                  <a:srgbClr val="122A52"/>
                </a:solidFill>
                <a:latin typeface="Helvetica"/>
              </a:rPr>
              <a:t>Performance</a:t>
            </a:r>
            <a:r>
              <a:rPr sz="1400" b="0">
                <a:solidFill>
                  <a:srgbClr val="122A52"/>
                </a:solidFill>
                <a:latin typeface="Helvetica"/>
              </a:rPr>
              <a:t> på skala — finder ikke N+1 i prod-data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8B1F1F"/>
                </a:solidFill>
                <a:latin typeface="Helvetica"/>
              </a:rPr>
              <a:t>■   </a:t>
            </a:r>
            <a:r>
              <a:rPr sz="1400" b="1">
                <a:solidFill>
                  <a:srgbClr val="122A52"/>
                </a:solidFill>
                <a:latin typeface="Helvetica"/>
              </a:rPr>
              <a:t>Infrastruktur-sikkerhed</a:t>
            </a:r>
            <a:r>
              <a:rPr sz="1400" b="0">
                <a:solidFill>
                  <a:srgbClr val="122A52"/>
                </a:solidFill>
                <a:latin typeface="Helvetica"/>
              </a:rPr>
              <a:t> — secrets, IAM, network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8B1F1F"/>
                </a:solidFill>
                <a:latin typeface="Helvetica"/>
              </a:rPr>
              <a:t>■   </a:t>
            </a:r>
            <a:r>
              <a:rPr sz="1400" b="1">
                <a:solidFill>
                  <a:srgbClr val="122A52"/>
                </a:solidFill>
                <a:latin typeface="Helvetica"/>
              </a:rPr>
              <a:t>Forretningsregler</a:t>
            </a:r>
            <a:r>
              <a:rPr sz="1400" b="0">
                <a:solidFill>
                  <a:srgbClr val="122A52"/>
                </a:solidFill>
                <a:latin typeface="Helvetica"/>
              </a:rPr>
              <a:t> — "må vi det her ift. compliance?"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400" b="1">
                <a:solidFill>
                  <a:srgbClr val="8B1F1F"/>
                </a:solidFill>
                <a:latin typeface="Helvetica"/>
              </a:rPr>
              <a:t>■   </a:t>
            </a:r>
            <a:r>
              <a:rPr sz="1400" b="0">
                <a:solidFill>
                  <a:srgbClr val="122A52"/>
                </a:solidFill>
                <a:latin typeface="Helvetica"/>
              </a:rPr>
              <a:t>Arkitektur-valg der spænder </a:t>
            </a:r>
            <a:r>
              <a:rPr sz="1400" b="1">
                <a:solidFill>
                  <a:srgbClr val="122A52"/>
                </a:solidFill>
                <a:latin typeface="Helvetica"/>
              </a:rPr>
              <a:t>flere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556B8A"/>
                </a:solidFill>
                <a:latin typeface="Helvetica"/>
              </a:rPr>
              <a:t>Lad linters tage stil/formatting. Lad Claude tage rutine-fejl. Lad kollegaen tage domænet.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10 |</a:t>
            </a:r>
          </a:p>
        </p:txBody>
      </p:sp>
      <p:pic>
        <p:nvPicPr>
          <p:cNvPr id="14" name="Picture 13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LIVE DEMO · Ben 2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Branch → /commit → push → /review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402336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74320" bIns="274320" wrap="square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# 1. Branch (gerne med opgave-ID fra DevOps-work-item)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$ git checkout -b feature/12345-tom-email-guard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# 2. Lav ændringen + tests, stage dem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$ git add -p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# 3. Claude finder konventionen selv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&gt; /commit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 → "fix(user): guard against empty email in GetUser"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# 4. Push og åbn PR i Azure DevOps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$ git push -u origin feature/12345-tom-email-guard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# 5. Lad Claude review ÆGTE diff FØR kollegaen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&gt; /review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2E8F0"/>
                </a:solidFill>
                <a:latin typeface="Menlo"/>
              </a:rPr>
              <a:t>  → null-checks, glemte tests, scope creep — punktvist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556B8A"/>
                </a:solidFill>
                <a:latin typeface="Menlo"/>
              </a:rPr>
              <a:t>Hvis Claude justerer commit-stilen forkert: bed om jeres præcise stil én gang — den husker det.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11 |</a:t>
            </a:r>
          </a:p>
        </p:txBody>
      </p:sp>
      <p:pic>
        <p:nvPicPr>
          <p:cNvPr id="9" name="Picture 8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PAT-sikkerhed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Det her er ikke et password — det er værre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20240"/>
            <a:ext cx="3017520" cy="914400"/>
          </a:xfrm>
          <a:prstGeom prst="rect">
            <a:avLst/>
          </a:prstGeom>
          <a:solidFill>
            <a:srgbClr val="8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Helvetica"/>
              </a:rPr>
              <a:t>Aldrig i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1920240"/>
            <a:ext cx="7955279" cy="9144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59" y="192024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22A52"/>
                </a:solidFill>
                <a:latin typeface="Helvetica"/>
              </a:rPr>
              <a:t>PAT i en prompt = PAT i Anthropics logs.
Brug git credential manager i stedet.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71800"/>
            <a:ext cx="3017520" cy="914400"/>
          </a:xfrm>
          <a:prstGeom prst="rect">
            <a:avLst/>
          </a:prstGeom>
          <a:solidFill>
            <a:srgbClr val="8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Helvetica"/>
              </a:rPr>
              <a:t>Aldrig i repos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971800"/>
            <a:ext cx="7955279" cy="9144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29718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22A52"/>
                </a:solidFill>
                <a:latin typeface="Helvetica"/>
              </a:rPr>
              <a:t>IKKE i `.env` der ligger i git.
IKKE i Slack/Teams/mails.
Brug Azure Key Vault eller credential manager.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3017520" cy="914400"/>
          </a:xfrm>
          <a:prstGeom prst="rect">
            <a:avLst/>
          </a:prstGeom>
          <a:solidFill>
            <a:srgbClr val="8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Helvetica"/>
              </a:rPr>
              <a:t>Min. scope, max. 90 dage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023360"/>
            <a:ext cx="7955279" cy="9144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59" y="402336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22A52"/>
                </a:solidFill>
                <a:latin typeface="Helvetica"/>
              </a:rPr>
              <a:t>`Code (read &amp; write)` + `Work Items (read)` rækker for de fleste.
Kortere expiration = mindre blast radius.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3017520" cy="914400"/>
          </a:xfrm>
          <a:prstGeom prst="rect">
            <a:avLst/>
          </a:prstGeom>
          <a:solidFill>
            <a:srgbClr val="8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Helvetica"/>
              </a:rPr>
              <a:t>Revoke straks ved tab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5074920"/>
            <a:ext cx="7955279" cy="9144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59" y="507492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22A52"/>
                </a:solidFill>
                <a:latin typeface="Helvetica"/>
              </a:rPr>
              <a:t>Hvis PAT havner et forkert sted: User Settings → Personal Access Tokens → Revoke.
Lav en ny.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556B8A"/>
                </a:solidFill>
                <a:latin typeface="Helvetica"/>
              </a:rPr>
              <a:t>PAT giver fuld kode-adgang. Behandl det som et password til hele jeres org's repos.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12 |</a:t>
            </a:r>
          </a:p>
        </p:txBody>
      </p:sp>
      <p:pic>
        <p:nvPicPr>
          <p:cNvPr id="24" name="Picture 23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Workshop-lab'en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Hands-on: jeres første PR — fork-flow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402336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74320" bIns="274320" wrap="square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# 1. Fork EDCxClaudeWorkshop på github.com (knap øverst til højre)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# 2. Clone din fork — ikke Matias' repo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$ git clone git@github.com:&lt;dit-handle&gt;/EDCxClaudeWorkshop.git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$ cd EDCxClaudeWorkshop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$ git remote add upstream git@github.com:MatiasGramkow/EDCxClaudeWorkshop.git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# 3. Lav en branch til din feature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$ git checkout -b lab/&lt;din-slug&gt;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# 4. Kopier eksempel-folderen, rediger din side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$ cp -r demo/app/lab/eksempel demo/app/lab/&lt;din-slug&gt;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# 5. Commit + push + åbn PR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$ git add demo/app/lab/&lt;din-slug&gt;/ demo/participants.json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&gt; /commit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$ git push -u origin lab/&lt;din-slug&gt;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Menlo"/>
              </a:rPr>
              <a:t># → Vercel poster preview-URL som comment på PR'en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13 |</a:t>
            </a:r>
          </a:p>
        </p:txBody>
      </p:sp>
      <p:pic>
        <p:nvPicPr>
          <p:cNvPr id="8" name="Picture 7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5B81C"/>
                </a:solidFill>
                <a:latin typeface="Menlo"/>
              </a:rPr>
              <a:t>Punkt 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Helvetica"/>
              </a:rPr>
              <a:t>Push din første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C8D4E8"/>
                </a:solidFill>
                <a:latin typeface="Helvetica"/>
              </a:rPr>
              <a:t>15 minutter · workshop-lab'en bliver jeres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Hands-on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Push din lab-side live på 15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15 |</a:t>
            </a:r>
          </a:p>
        </p:txBody>
      </p:sp>
      <p:pic>
        <p:nvPicPr>
          <p:cNvPr id="7" name="Picture 6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Cheat-sheet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Fork → branch → commit → push → PR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440680" cy="4297680"/>
          </a:xfrm>
          <a:prstGeom prst="roundRect">
            <a:avLst>
              <a:gd name="adj" fmla="val 5000"/>
            </a:avLst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22A52"/>
                </a:solidFill>
                <a:latin typeface="Menlo"/>
              </a:rPr>
              <a:t>A-SPOR · WORKSHOP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22A52"/>
                </a:solidFill>
                <a:latin typeface="Helvetica"/>
              </a:rPr>
              <a:t>Push din egen lab-side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300" b="1">
                <a:solidFill>
                  <a:srgbClr val="122A52"/>
                </a:solidFill>
                <a:latin typeface="Helvetica"/>
              </a:rPr>
              <a:t>Fork</a:t>
            </a:r>
            <a:r>
              <a:rPr sz="1300" b="0">
                <a:solidFill>
                  <a:srgbClr val="122A52"/>
                </a:solidFill>
                <a:latin typeface="Helvetica"/>
              </a:rPr>
              <a:t> EDCxClaudeWorkshop på GitHub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300" b="0">
                <a:solidFill>
                  <a:srgbClr val="122A52"/>
                </a:solidFill>
                <a:latin typeface="Helvetica"/>
              </a:rPr>
              <a:t>Clone din fork lokalt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300" b="0">
                <a:solidFill>
                  <a:srgbClr val="122A52"/>
                </a:solidFill>
                <a:latin typeface="Helvetica"/>
              </a:rPr>
              <a:t>`cp -r demo/app/lab/eksempel demo/app/lab/&lt;din-slug&gt;`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300" b="0">
                <a:solidFill>
                  <a:srgbClr val="122A52"/>
                </a:solidFill>
                <a:latin typeface="Helvetica"/>
              </a:rPr>
              <a:t>Brug Claude `/commit`, så `git push`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3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300" b="0">
                <a:solidFill>
                  <a:srgbClr val="122A52"/>
                </a:solidFill>
                <a:latin typeface="Helvetica"/>
              </a:rPr>
              <a:t>Åbn PR → få preview-URL på sekunder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440680" cy="4297680"/>
          </a:xfrm>
          <a:prstGeom prst="roundRect">
            <a:avLst>
              <a:gd name="adj" fmla="val 5000"/>
            </a:avLst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B81C"/>
                </a:solidFill>
                <a:latin typeface="Menlo"/>
              </a:rPr>
              <a:t>B-SPOR · AZURE DEVOPS PAT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Helvetica"/>
              </a:rPr>
              <a:t>Sæt PAT op til EDC-repos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108960"/>
            <a:ext cx="5029200" cy="2834640"/>
          </a:xfrm>
          <a:prstGeom prst="roundRect">
            <a:avLst>
              <a:gd name="adj" fmla="val 4000"/>
            </a:avLst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74320" bIns="274320" wrap="square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# Opret PAT i Azure DevOps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# (User Settings → PAT → New)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# Scope: Code (read &amp; write)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$ git config --global \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  credential.helper "manager-core"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# Næste git pull/push: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# indsæt PAT som password.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E2E8F0"/>
                </a:solidFill>
                <a:latin typeface="Menlo"/>
              </a:rPr>
              <a:t># Derefter glemmer du det.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16 |</a:t>
            </a:r>
          </a:p>
        </p:txBody>
      </p:sp>
      <p:pic>
        <p:nvPicPr>
          <p:cNvPr id="15" name="Picture 14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22A52"/>
                </a:solidFill>
                <a:latin typeface="Helvetica"/>
              </a:rPr>
              <a:t>Take-home</a:t>
            </a:r>
            <a:r>
              <a:rPr sz="3400" b="0">
                <a:solidFill>
                  <a:srgbClr val="122A52"/>
                </a:solidFill>
                <a:latin typeface="Helvetica"/>
              </a:rPr>
              <a:t> | Hjemmeopgave til session 7 — torsdag uge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91672" cy="3200400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241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0">
                <a:solidFill>
                  <a:srgbClr val="122A52"/>
                </a:solidFill>
                <a:latin typeface="Helvetica"/>
              </a:rPr>
              <a:t>Brug </a:t>
            </a:r>
            <a:r>
              <a:rPr sz="1800" b="1">
                <a:solidFill>
                  <a:srgbClr val="122A52"/>
                </a:solidFill>
                <a:latin typeface="Helvetica"/>
              </a:rPr>
              <a:t>`/commit`</a:t>
            </a:r>
            <a:r>
              <a:rPr sz="1800" b="0">
                <a:solidFill>
                  <a:srgbClr val="122A52"/>
                </a:solidFill>
                <a:latin typeface="Helvetica"/>
              </a:rPr>
              <a:t> eller </a:t>
            </a:r>
            <a:r>
              <a:rPr sz="1800" b="1">
                <a:solidFill>
                  <a:srgbClr val="122A52"/>
                </a:solidFill>
                <a:latin typeface="Helvetica"/>
              </a:rPr>
              <a:t>`/review`</a:t>
            </a:r>
            <a:r>
              <a:rPr sz="1800" b="0">
                <a:solidFill>
                  <a:srgbClr val="122A52"/>
                </a:solidFill>
                <a:latin typeface="Helvetica"/>
              </a:rPr>
              <a:t> mindst én gang på ægte arbejde</a:t>
            </a: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1">
                <a:solidFill>
                  <a:srgbClr val="122A52"/>
                </a:solidFill>
                <a:latin typeface="Helvetica"/>
              </a:rPr>
              <a:t>Sæt PAT op</a:t>
            </a:r>
            <a:r>
              <a:rPr sz="1800" b="0">
                <a:solidFill>
                  <a:srgbClr val="122A52"/>
                </a:solidFill>
                <a:latin typeface="Helvetica"/>
              </a:rPr>
              <a:t> til Azure DevOps hvis I ikke har det — så Claude kan push'e mod EDC-repos</a:t>
            </a: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800" b="1">
                <a:solidFill>
                  <a:srgbClr val="122A52"/>
                </a:solidFill>
                <a:latin typeface="Helvetica"/>
              </a:rPr>
              <a:t>■   </a:t>
            </a:r>
            <a:r>
              <a:rPr sz="1800" b="0">
                <a:solidFill>
                  <a:srgbClr val="122A52"/>
                </a:solidFill>
                <a:latin typeface="Helvetica"/>
              </a:rPr>
              <a:t>Find </a:t>
            </a:r>
            <a:r>
              <a:rPr sz="1800" b="1">
                <a:solidFill>
                  <a:srgbClr val="122A52"/>
                </a:solidFill>
                <a:latin typeface="Helvetica"/>
              </a:rPr>
              <a:t>én ting</a:t>
            </a:r>
            <a:r>
              <a:rPr sz="1800" b="0">
                <a:solidFill>
                  <a:srgbClr val="122A52"/>
                </a:solidFill>
                <a:latin typeface="Helvetica"/>
              </a:rPr>
              <a:t> Claude fangede i et review som I ikke ville have fanget selv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enlo"/>
              </a:rPr>
              <a:t>Bonus: tilføj noget til din /lab/&lt;din-slug&gt;-side — vis den frem i session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B8A"/>
                </a:solidFill>
                <a:latin typeface="Helvetica"/>
              </a:rPr>
              <a:t>17 |</a:t>
            </a:r>
          </a:p>
        </p:txBody>
      </p:sp>
      <p:pic>
        <p:nvPicPr>
          <p:cNvPr id="11" name="Picture 10" descr="edc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2636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Helvetica"/>
              </a:rPr>
              <a:t>Tak til Troels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C8D4E8"/>
                </a:solidFill>
                <a:latin typeface="Helvetica"/>
              </a:rPr>
              <a:t>for at tage session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F5B81C"/>
                </a:solidFill>
                <a:latin typeface="Menlo"/>
              </a:rPr>
              <a:t>Næste gang: Skills og model-tuning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C8D4E8"/>
                </a:solidFill>
                <a:latin typeface="Helvetica"/>
              </a:rPr>
              <a:t>Torsdag d. 28. maj · Oliver Pasha Rasoli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